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70" r:id="rId4"/>
    <p:sldId id="271" r:id="rId5"/>
    <p:sldId id="272" r:id="rId6"/>
    <p:sldId id="257" r:id="rId7"/>
    <p:sldId id="261" r:id="rId8"/>
    <p:sldId id="273" r:id="rId9"/>
    <p:sldId id="262" r:id="rId10"/>
    <p:sldId id="258" r:id="rId11"/>
    <p:sldId id="259" r:id="rId12"/>
    <p:sldId id="263" r:id="rId13"/>
    <p:sldId id="264" r:id="rId14"/>
    <p:sldId id="265" r:id="rId15"/>
    <p:sldId id="266" r:id="rId16"/>
    <p:sldId id="267" r:id="rId17"/>
    <p:sldId id="268" r:id="rId18"/>
    <p:sldId id="274" r:id="rId19"/>
    <p:sldId id="26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76" d="100"/>
          <a:sy n="76" d="100"/>
        </p:scale>
        <p:origin x="67" y="3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963C9-560D-B7A2-1FD5-4274C794A4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C45F487-DA71-7152-6D61-54C3DED93D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B18E0E2-4144-45E5-1A32-759B88F430CA}"/>
              </a:ext>
            </a:extLst>
          </p:cNvPr>
          <p:cNvSpPr>
            <a:spLocks noGrp="1"/>
          </p:cNvSpPr>
          <p:nvPr>
            <p:ph type="dt" sz="half" idx="10"/>
          </p:nvPr>
        </p:nvSpPr>
        <p:spPr/>
        <p:txBody>
          <a:bodyPr/>
          <a:lstStyle/>
          <a:p>
            <a:fld id="{6D5B7669-8240-493E-A156-2090B0B22061}" type="datetimeFigureOut">
              <a:rPr lang="en-IN" smtClean="0"/>
              <a:t>30-07-2025</a:t>
            </a:fld>
            <a:endParaRPr lang="en-IN"/>
          </a:p>
        </p:txBody>
      </p:sp>
      <p:sp>
        <p:nvSpPr>
          <p:cNvPr id="5" name="Footer Placeholder 4">
            <a:extLst>
              <a:ext uri="{FF2B5EF4-FFF2-40B4-BE49-F238E27FC236}">
                <a16:creationId xmlns:a16="http://schemas.microsoft.com/office/drawing/2014/main" id="{80AE5E90-BD47-8E33-B384-2FFC0A564D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CFF41A-15DF-526D-D7F9-4608AB2931E5}"/>
              </a:ext>
            </a:extLst>
          </p:cNvPr>
          <p:cNvSpPr>
            <a:spLocks noGrp="1"/>
          </p:cNvSpPr>
          <p:nvPr>
            <p:ph type="sldNum" sz="quarter" idx="12"/>
          </p:nvPr>
        </p:nvSpPr>
        <p:spPr/>
        <p:txBody>
          <a:bodyPr/>
          <a:lstStyle/>
          <a:p>
            <a:fld id="{DCE0068D-4C10-4A80-AFB0-CEBE90C3AD15}" type="slidenum">
              <a:rPr lang="en-IN" smtClean="0"/>
              <a:t>‹#›</a:t>
            </a:fld>
            <a:endParaRPr lang="en-IN"/>
          </a:p>
        </p:txBody>
      </p:sp>
    </p:spTree>
    <p:extLst>
      <p:ext uri="{BB962C8B-B14F-4D97-AF65-F5344CB8AC3E}">
        <p14:creationId xmlns:p14="http://schemas.microsoft.com/office/powerpoint/2010/main" val="3183365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28A15-295E-DDF4-8312-2A91A670679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FAEC43-DBE7-5767-3F0B-C45B901C4E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4B9728-4AE4-4D4E-DB35-2664B9FE7322}"/>
              </a:ext>
            </a:extLst>
          </p:cNvPr>
          <p:cNvSpPr>
            <a:spLocks noGrp="1"/>
          </p:cNvSpPr>
          <p:nvPr>
            <p:ph type="dt" sz="half" idx="10"/>
          </p:nvPr>
        </p:nvSpPr>
        <p:spPr/>
        <p:txBody>
          <a:bodyPr/>
          <a:lstStyle/>
          <a:p>
            <a:fld id="{6D5B7669-8240-493E-A156-2090B0B22061}" type="datetimeFigureOut">
              <a:rPr lang="en-IN" smtClean="0"/>
              <a:t>30-07-2025</a:t>
            </a:fld>
            <a:endParaRPr lang="en-IN"/>
          </a:p>
        </p:txBody>
      </p:sp>
      <p:sp>
        <p:nvSpPr>
          <p:cNvPr id="5" name="Footer Placeholder 4">
            <a:extLst>
              <a:ext uri="{FF2B5EF4-FFF2-40B4-BE49-F238E27FC236}">
                <a16:creationId xmlns:a16="http://schemas.microsoft.com/office/drawing/2014/main" id="{DC88C154-CDB4-EBA5-07D4-9CFCD2EE4E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E57F13-9AC6-AD12-DF82-4146C1F6B552}"/>
              </a:ext>
            </a:extLst>
          </p:cNvPr>
          <p:cNvSpPr>
            <a:spLocks noGrp="1"/>
          </p:cNvSpPr>
          <p:nvPr>
            <p:ph type="sldNum" sz="quarter" idx="12"/>
          </p:nvPr>
        </p:nvSpPr>
        <p:spPr/>
        <p:txBody>
          <a:bodyPr/>
          <a:lstStyle/>
          <a:p>
            <a:fld id="{DCE0068D-4C10-4A80-AFB0-CEBE90C3AD15}" type="slidenum">
              <a:rPr lang="en-IN" smtClean="0"/>
              <a:t>‹#›</a:t>
            </a:fld>
            <a:endParaRPr lang="en-IN"/>
          </a:p>
        </p:txBody>
      </p:sp>
    </p:spTree>
    <p:extLst>
      <p:ext uri="{BB962C8B-B14F-4D97-AF65-F5344CB8AC3E}">
        <p14:creationId xmlns:p14="http://schemas.microsoft.com/office/powerpoint/2010/main" val="1463448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3D04D-9E26-5537-D68D-2028FE479E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35A174D-E14C-61CC-DA63-D99E50EDCE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7A268C-77D7-B067-D99A-FA569C0DDDD3}"/>
              </a:ext>
            </a:extLst>
          </p:cNvPr>
          <p:cNvSpPr>
            <a:spLocks noGrp="1"/>
          </p:cNvSpPr>
          <p:nvPr>
            <p:ph type="dt" sz="half" idx="10"/>
          </p:nvPr>
        </p:nvSpPr>
        <p:spPr/>
        <p:txBody>
          <a:bodyPr/>
          <a:lstStyle/>
          <a:p>
            <a:fld id="{6D5B7669-8240-493E-A156-2090B0B22061}" type="datetimeFigureOut">
              <a:rPr lang="en-IN" smtClean="0"/>
              <a:t>30-07-2025</a:t>
            </a:fld>
            <a:endParaRPr lang="en-IN"/>
          </a:p>
        </p:txBody>
      </p:sp>
      <p:sp>
        <p:nvSpPr>
          <p:cNvPr id="5" name="Footer Placeholder 4">
            <a:extLst>
              <a:ext uri="{FF2B5EF4-FFF2-40B4-BE49-F238E27FC236}">
                <a16:creationId xmlns:a16="http://schemas.microsoft.com/office/drawing/2014/main" id="{2D01AEF2-A194-D22E-8182-65BA2C4408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B0B6A8-01A8-FC7E-66C2-AE5F815AE233}"/>
              </a:ext>
            </a:extLst>
          </p:cNvPr>
          <p:cNvSpPr>
            <a:spLocks noGrp="1"/>
          </p:cNvSpPr>
          <p:nvPr>
            <p:ph type="sldNum" sz="quarter" idx="12"/>
          </p:nvPr>
        </p:nvSpPr>
        <p:spPr/>
        <p:txBody>
          <a:bodyPr/>
          <a:lstStyle/>
          <a:p>
            <a:fld id="{DCE0068D-4C10-4A80-AFB0-CEBE90C3AD15}" type="slidenum">
              <a:rPr lang="en-IN" smtClean="0"/>
              <a:t>‹#›</a:t>
            </a:fld>
            <a:endParaRPr lang="en-IN"/>
          </a:p>
        </p:txBody>
      </p:sp>
    </p:spTree>
    <p:extLst>
      <p:ext uri="{BB962C8B-B14F-4D97-AF65-F5344CB8AC3E}">
        <p14:creationId xmlns:p14="http://schemas.microsoft.com/office/powerpoint/2010/main" val="3915574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94F36-D4F0-13C6-1ABA-36BF0432D9E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31C313A-B63F-17E3-443C-1C2723888F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679A918-14BC-DF4B-9443-6217C5F5AA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ABD0FD-6658-C73E-4127-38676A198DAF}"/>
              </a:ext>
            </a:extLst>
          </p:cNvPr>
          <p:cNvSpPr>
            <a:spLocks noGrp="1"/>
          </p:cNvSpPr>
          <p:nvPr>
            <p:ph type="dt" sz="half" idx="10"/>
          </p:nvPr>
        </p:nvSpPr>
        <p:spPr/>
        <p:txBody>
          <a:bodyPr/>
          <a:lstStyle/>
          <a:p>
            <a:fld id="{6D5B7669-8240-493E-A156-2090B0B22061}" type="datetimeFigureOut">
              <a:rPr lang="en-IN" smtClean="0"/>
              <a:t>30-07-2025</a:t>
            </a:fld>
            <a:endParaRPr lang="en-IN"/>
          </a:p>
        </p:txBody>
      </p:sp>
      <p:sp>
        <p:nvSpPr>
          <p:cNvPr id="6" name="Footer Placeholder 5">
            <a:extLst>
              <a:ext uri="{FF2B5EF4-FFF2-40B4-BE49-F238E27FC236}">
                <a16:creationId xmlns:a16="http://schemas.microsoft.com/office/drawing/2014/main" id="{08C77209-8402-613D-975E-81700FF719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80648B-D2C7-2F57-D36E-2B5F3898A791}"/>
              </a:ext>
            </a:extLst>
          </p:cNvPr>
          <p:cNvSpPr>
            <a:spLocks noGrp="1"/>
          </p:cNvSpPr>
          <p:nvPr>
            <p:ph type="sldNum" sz="quarter" idx="12"/>
          </p:nvPr>
        </p:nvSpPr>
        <p:spPr/>
        <p:txBody>
          <a:bodyPr/>
          <a:lstStyle/>
          <a:p>
            <a:fld id="{DCE0068D-4C10-4A80-AFB0-CEBE90C3AD15}" type="slidenum">
              <a:rPr lang="en-IN" smtClean="0"/>
              <a:t>‹#›</a:t>
            </a:fld>
            <a:endParaRPr lang="en-IN"/>
          </a:p>
        </p:txBody>
      </p:sp>
    </p:spTree>
    <p:extLst>
      <p:ext uri="{BB962C8B-B14F-4D97-AF65-F5344CB8AC3E}">
        <p14:creationId xmlns:p14="http://schemas.microsoft.com/office/powerpoint/2010/main" val="14676876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20FB5-72BB-87F3-BC6D-F729EF1411E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F36E634-3CA8-E560-139E-9D627D865E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7AC80B-0C09-D32D-AC0F-676D91823F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28F1141-1A42-80A9-1BEF-6A6294002A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F92635-493F-CB97-AC89-F1DC4A121B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7A99A89-CD34-B004-868E-D68C72ECC955}"/>
              </a:ext>
            </a:extLst>
          </p:cNvPr>
          <p:cNvSpPr>
            <a:spLocks noGrp="1"/>
          </p:cNvSpPr>
          <p:nvPr>
            <p:ph type="dt" sz="half" idx="10"/>
          </p:nvPr>
        </p:nvSpPr>
        <p:spPr/>
        <p:txBody>
          <a:bodyPr/>
          <a:lstStyle/>
          <a:p>
            <a:fld id="{6D5B7669-8240-493E-A156-2090B0B22061}" type="datetimeFigureOut">
              <a:rPr lang="en-IN" smtClean="0"/>
              <a:t>30-07-2025</a:t>
            </a:fld>
            <a:endParaRPr lang="en-IN"/>
          </a:p>
        </p:txBody>
      </p:sp>
      <p:sp>
        <p:nvSpPr>
          <p:cNvPr id="8" name="Footer Placeholder 7">
            <a:extLst>
              <a:ext uri="{FF2B5EF4-FFF2-40B4-BE49-F238E27FC236}">
                <a16:creationId xmlns:a16="http://schemas.microsoft.com/office/drawing/2014/main" id="{CF960698-3D43-A8F4-D8DD-CF22C52EBA0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504F621-EDFC-480E-F30F-4F5A8D4F0DD1}"/>
              </a:ext>
            </a:extLst>
          </p:cNvPr>
          <p:cNvSpPr>
            <a:spLocks noGrp="1"/>
          </p:cNvSpPr>
          <p:nvPr>
            <p:ph type="sldNum" sz="quarter" idx="12"/>
          </p:nvPr>
        </p:nvSpPr>
        <p:spPr/>
        <p:txBody>
          <a:bodyPr/>
          <a:lstStyle/>
          <a:p>
            <a:fld id="{DCE0068D-4C10-4A80-AFB0-CEBE90C3AD15}" type="slidenum">
              <a:rPr lang="en-IN" smtClean="0"/>
              <a:t>‹#›</a:t>
            </a:fld>
            <a:endParaRPr lang="en-IN"/>
          </a:p>
        </p:txBody>
      </p:sp>
    </p:spTree>
    <p:extLst>
      <p:ext uri="{BB962C8B-B14F-4D97-AF65-F5344CB8AC3E}">
        <p14:creationId xmlns:p14="http://schemas.microsoft.com/office/powerpoint/2010/main" val="406466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794DD-87DD-4D10-3829-885565F054C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C7D3513-DAEA-9219-8CE5-398413211E07}"/>
              </a:ext>
            </a:extLst>
          </p:cNvPr>
          <p:cNvSpPr>
            <a:spLocks noGrp="1"/>
          </p:cNvSpPr>
          <p:nvPr>
            <p:ph type="dt" sz="half" idx="10"/>
          </p:nvPr>
        </p:nvSpPr>
        <p:spPr/>
        <p:txBody>
          <a:bodyPr/>
          <a:lstStyle/>
          <a:p>
            <a:fld id="{6D5B7669-8240-493E-A156-2090B0B22061}" type="datetimeFigureOut">
              <a:rPr lang="en-IN" smtClean="0"/>
              <a:t>30-07-2025</a:t>
            </a:fld>
            <a:endParaRPr lang="en-IN"/>
          </a:p>
        </p:txBody>
      </p:sp>
      <p:sp>
        <p:nvSpPr>
          <p:cNvPr id="4" name="Footer Placeholder 3">
            <a:extLst>
              <a:ext uri="{FF2B5EF4-FFF2-40B4-BE49-F238E27FC236}">
                <a16:creationId xmlns:a16="http://schemas.microsoft.com/office/drawing/2014/main" id="{BFD4A761-4BD2-53F0-F569-085B8568A7F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D487D04-F68D-DD5A-4180-71864C9B5988}"/>
              </a:ext>
            </a:extLst>
          </p:cNvPr>
          <p:cNvSpPr>
            <a:spLocks noGrp="1"/>
          </p:cNvSpPr>
          <p:nvPr>
            <p:ph type="sldNum" sz="quarter" idx="12"/>
          </p:nvPr>
        </p:nvSpPr>
        <p:spPr/>
        <p:txBody>
          <a:bodyPr/>
          <a:lstStyle/>
          <a:p>
            <a:fld id="{DCE0068D-4C10-4A80-AFB0-CEBE90C3AD15}" type="slidenum">
              <a:rPr lang="en-IN" smtClean="0"/>
              <a:t>‹#›</a:t>
            </a:fld>
            <a:endParaRPr lang="en-IN"/>
          </a:p>
        </p:txBody>
      </p:sp>
    </p:spTree>
    <p:extLst>
      <p:ext uri="{BB962C8B-B14F-4D97-AF65-F5344CB8AC3E}">
        <p14:creationId xmlns:p14="http://schemas.microsoft.com/office/powerpoint/2010/main" val="31316630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AD30CB-A568-C651-2A0C-436DACE4F583}"/>
              </a:ext>
            </a:extLst>
          </p:cNvPr>
          <p:cNvSpPr>
            <a:spLocks noGrp="1"/>
          </p:cNvSpPr>
          <p:nvPr>
            <p:ph type="dt" sz="half" idx="10"/>
          </p:nvPr>
        </p:nvSpPr>
        <p:spPr/>
        <p:txBody>
          <a:bodyPr/>
          <a:lstStyle/>
          <a:p>
            <a:fld id="{6D5B7669-8240-493E-A156-2090B0B22061}" type="datetimeFigureOut">
              <a:rPr lang="en-IN" smtClean="0"/>
              <a:t>30-07-2025</a:t>
            </a:fld>
            <a:endParaRPr lang="en-IN"/>
          </a:p>
        </p:txBody>
      </p:sp>
      <p:sp>
        <p:nvSpPr>
          <p:cNvPr id="3" name="Footer Placeholder 2">
            <a:extLst>
              <a:ext uri="{FF2B5EF4-FFF2-40B4-BE49-F238E27FC236}">
                <a16:creationId xmlns:a16="http://schemas.microsoft.com/office/drawing/2014/main" id="{08F2389A-4302-9F3F-DE9D-2C62CDF839D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9542605-C842-2E08-2ACD-2953B6DC98CB}"/>
              </a:ext>
            </a:extLst>
          </p:cNvPr>
          <p:cNvSpPr>
            <a:spLocks noGrp="1"/>
          </p:cNvSpPr>
          <p:nvPr>
            <p:ph type="sldNum" sz="quarter" idx="12"/>
          </p:nvPr>
        </p:nvSpPr>
        <p:spPr/>
        <p:txBody>
          <a:bodyPr/>
          <a:lstStyle/>
          <a:p>
            <a:fld id="{DCE0068D-4C10-4A80-AFB0-CEBE90C3AD15}" type="slidenum">
              <a:rPr lang="en-IN" smtClean="0"/>
              <a:t>‹#›</a:t>
            </a:fld>
            <a:endParaRPr lang="en-IN"/>
          </a:p>
        </p:txBody>
      </p:sp>
    </p:spTree>
    <p:extLst>
      <p:ext uri="{BB962C8B-B14F-4D97-AF65-F5344CB8AC3E}">
        <p14:creationId xmlns:p14="http://schemas.microsoft.com/office/powerpoint/2010/main" val="3321057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642F8-2AB3-7C03-C18B-FC082C6F55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ACA851A-4757-3634-BE41-B412B38BD5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0CD223E-B5DA-6D1E-C76F-6849F8B154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F0D076-0883-0CD2-D7D3-56DC2E96F1D7}"/>
              </a:ext>
            </a:extLst>
          </p:cNvPr>
          <p:cNvSpPr>
            <a:spLocks noGrp="1"/>
          </p:cNvSpPr>
          <p:nvPr>
            <p:ph type="dt" sz="half" idx="10"/>
          </p:nvPr>
        </p:nvSpPr>
        <p:spPr/>
        <p:txBody>
          <a:bodyPr/>
          <a:lstStyle/>
          <a:p>
            <a:fld id="{6D5B7669-8240-493E-A156-2090B0B22061}" type="datetimeFigureOut">
              <a:rPr lang="en-IN" smtClean="0"/>
              <a:t>30-07-2025</a:t>
            </a:fld>
            <a:endParaRPr lang="en-IN"/>
          </a:p>
        </p:txBody>
      </p:sp>
      <p:sp>
        <p:nvSpPr>
          <p:cNvPr id="6" name="Footer Placeholder 5">
            <a:extLst>
              <a:ext uri="{FF2B5EF4-FFF2-40B4-BE49-F238E27FC236}">
                <a16:creationId xmlns:a16="http://schemas.microsoft.com/office/drawing/2014/main" id="{E7618BF3-9514-4903-4B8B-3C8FB3E83B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8E8CB3-79C9-A61A-61C9-F482CA244BE8}"/>
              </a:ext>
            </a:extLst>
          </p:cNvPr>
          <p:cNvSpPr>
            <a:spLocks noGrp="1"/>
          </p:cNvSpPr>
          <p:nvPr>
            <p:ph type="sldNum" sz="quarter" idx="12"/>
          </p:nvPr>
        </p:nvSpPr>
        <p:spPr/>
        <p:txBody>
          <a:bodyPr/>
          <a:lstStyle/>
          <a:p>
            <a:fld id="{DCE0068D-4C10-4A80-AFB0-CEBE90C3AD15}" type="slidenum">
              <a:rPr lang="en-IN" smtClean="0"/>
              <a:t>‹#›</a:t>
            </a:fld>
            <a:endParaRPr lang="en-IN"/>
          </a:p>
        </p:txBody>
      </p:sp>
    </p:spTree>
    <p:extLst>
      <p:ext uri="{BB962C8B-B14F-4D97-AF65-F5344CB8AC3E}">
        <p14:creationId xmlns:p14="http://schemas.microsoft.com/office/powerpoint/2010/main" val="3818780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11A8B-0938-3D1A-53E0-0D088E7C41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F3E94EC-6F0E-2848-2FC0-FE0D919D9D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B899092-66ED-C1E9-100B-535FD675BA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DC77DD-0F4A-AC1E-891D-D348631692D7}"/>
              </a:ext>
            </a:extLst>
          </p:cNvPr>
          <p:cNvSpPr>
            <a:spLocks noGrp="1"/>
          </p:cNvSpPr>
          <p:nvPr>
            <p:ph type="dt" sz="half" idx="10"/>
          </p:nvPr>
        </p:nvSpPr>
        <p:spPr/>
        <p:txBody>
          <a:bodyPr/>
          <a:lstStyle/>
          <a:p>
            <a:fld id="{6D5B7669-8240-493E-A156-2090B0B22061}" type="datetimeFigureOut">
              <a:rPr lang="en-IN" smtClean="0"/>
              <a:t>30-07-2025</a:t>
            </a:fld>
            <a:endParaRPr lang="en-IN"/>
          </a:p>
        </p:txBody>
      </p:sp>
      <p:sp>
        <p:nvSpPr>
          <p:cNvPr id="6" name="Footer Placeholder 5">
            <a:extLst>
              <a:ext uri="{FF2B5EF4-FFF2-40B4-BE49-F238E27FC236}">
                <a16:creationId xmlns:a16="http://schemas.microsoft.com/office/drawing/2014/main" id="{3F5E352B-8B86-46BF-8010-0BCE0C94BC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DB38EC-6DD8-EB86-38F3-B9F46874AE9A}"/>
              </a:ext>
            </a:extLst>
          </p:cNvPr>
          <p:cNvSpPr>
            <a:spLocks noGrp="1"/>
          </p:cNvSpPr>
          <p:nvPr>
            <p:ph type="sldNum" sz="quarter" idx="12"/>
          </p:nvPr>
        </p:nvSpPr>
        <p:spPr/>
        <p:txBody>
          <a:bodyPr/>
          <a:lstStyle/>
          <a:p>
            <a:fld id="{DCE0068D-4C10-4A80-AFB0-CEBE90C3AD15}" type="slidenum">
              <a:rPr lang="en-IN" smtClean="0"/>
              <a:t>‹#›</a:t>
            </a:fld>
            <a:endParaRPr lang="en-IN"/>
          </a:p>
        </p:txBody>
      </p:sp>
    </p:spTree>
    <p:extLst>
      <p:ext uri="{BB962C8B-B14F-4D97-AF65-F5344CB8AC3E}">
        <p14:creationId xmlns:p14="http://schemas.microsoft.com/office/powerpoint/2010/main" val="473380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57FFF-8F84-47E5-9A62-FF2B81CC193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7288ED-BF91-F2ED-6E1A-3D7E50ABE6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6AC0AA-7335-02A6-1F08-FB0882F0224F}"/>
              </a:ext>
            </a:extLst>
          </p:cNvPr>
          <p:cNvSpPr>
            <a:spLocks noGrp="1"/>
          </p:cNvSpPr>
          <p:nvPr>
            <p:ph type="dt" sz="half" idx="10"/>
          </p:nvPr>
        </p:nvSpPr>
        <p:spPr/>
        <p:txBody>
          <a:bodyPr/>
          <a:lstStyle/>
          <a:p>
            <a:fld id="{6D5B7669-8240-493E-A156-2090B0B22061}" type="datetimeFigureOut">
              <a:rPr lang="en-IN" smtClean="0"/>
              <a:t>30-07-2025</a:t>
            </a:fld>
            <a:endParaRPr lang="en-IN"/>
          </a:p>
        </p:txBody>
      </p:sp>
      <p:sp>
        <p:nvSpPr>
          <p:cNvPr id="5" name="Footer Placeholder 4">
            <a:extLst>
              <a:ext uri="{FF2B5EF4-FFF2-40B4-BE49-F238E27FC236}">
                <a16:creationId xmlns:a16="http://schemas.microsoft.com/office/drawing/2014/main" id="{74D6E66D-1F38-C1EC-94AA-6F9092DD8C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E2D619-7952-C067-D0FC-A92A7B0CBC07}"/>
              </a:ext>
            </a:extLst>
          </p:cNvPr>
          <p:cNvSpPr>
            <a:spLocks noGrp="1"/>
          </p:cNvSpPr>
          <p:nvPr>
            <p:ph type="sldNum" sz="quarter" idx="12"/>
          </p:nvPr>
        </p:nvSpPr>
        <p:spPr/>
        <p:txBody>
          <a:bodyPr/>
          <a:lstStyle/>
          <a:p>
            <a:fld id="{DCE0068D-4C10-4A80-AFB0-CEBE90C3AD15}" type="slidenum">
              <a:rPr lang="en-IN" smtClean="0"/>
              <a:t>‹#›</a:t>
            </a:fld>
            <a:endParaRPr lang="en-IN"/>
          </a:p>
        </p:txBody>
      </p:sp>
    </p:spTree>
    <p:extLst>
      <p:ext uri="{BB962C8B-B14F-4D97-AF65-F5344CB8AC3E}">
        <p14:creationId xmlns:p14="http://schemas.microsoft.com/office/powerpoint/2010/main" val="3224256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3D0F0E-9BE1-2026-54BD-9739F337B8E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DD1928E-F561-2C0C-1839-07614ECB07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759E87-C0F1-5F20-5CC8-78B4AEB50FAF}"/>
              </a:ext>
            </a:extLst>
          </p:cNvPr>
          <p:cNvSpPr>
            <a:spLocks noGrp="1"/>
          </p:cNvSpPr>
          <p:nvPr>
            <p:ph type="dt" sz="half" idx="10"/>
          </p:nvPr>
        </p:nvSpPr>
        <p:spPr/>
        <p:txBody>
          <a:bodyPr/>
          <a:lstStyle/>
          <a:p>
            <a:fld id="{6D5B7669-8240-493E-A156-2090B0B22061}" type="datetimeFigureOut">
              <a:rPr lang="en-IN" smtClean="0"/>
              <a:t>30-07-2025</a:t>
            </a:fld>
            <a:endParaRPr lang="en-IN"/>
          </a:p>
        </p:txBody>
      </p:sp>
      <p:sp>
        <p:nvSpPr>
          <p:cNvPr id="5" name="Footer Placeholder 4">
            <a:extLst>
              <a:ext uri="{FF2B5EF4-FFF2-40B4-BE49-F238E27FC236}">
                <a16:creationId xmlns:a16="http://schemas.microsoft.com/office/drawing/2014/main" id="{DD95FC17-A7DF-BC12-9A9B-B0DB2CEB31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9DF7C2-9EAD-6B11-6BCF-70DE1FB10F1D}"/>
              </a:ext>
            </a:extLst>
          </p:cNvPr>
          <p:cNvSpPr>
            <a:spLocks noGrp="1"/>
          </p:cNvSpPr>
          <p:nvPr>
            <p:ph type="sldNum" sz="quarter" idx="12"/>
          </p:nvPr>
        </p:nvSpPr>
        <p:spPr/>
        <p:txBody>
          <a:bodyPr/>
          <a:lstStyle/>
          <a:p>
            <a:fld id="{DCE0068D-4C10-4A80-AFB0-CEBE90C3AD15}" type="slidenum">
              <a:rPr lang="en-IN" smtClean="0"/>
              <a:t>‹#›</a:t>
            </a:fld>
            <a:endParaRPr lang="en-IN"/>
          </a:p>
        </p:txBody>
      </p:sp>
    </p:spTree>
    <p:extLst>
      <p:ext uri="{BB962C8B-B14F-4D97-AF65-F5344CB8AC3E}">
        <p14:creationId xmlns:p14="http://schemas.microsoft.com/office/powerpoint/2010/main" val="2740659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E834CA-B568-81BA-582E-5CF3E4E4FC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B869A34-693D-D3DA-34DB-426A36F602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B4A808-9F85-7DCB-7301-F19EEFB5B9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5B7669-8240-493E-A156-2090B0B22061}" type="datetimeFigureOut">
              <a:rPr lang="en-IN" smtClean="0"/>
              <a:t>30-07-2025</a:t>
            </a:fld>
            <a:endParaRPr lang="en-IN"/>
          </a:p>
        </p:txBody>
      </p:sp>
      <p:sp>
        <p:nvSpPr>
          <p:cNvPr id="5" name="Footer Placeholder 4">
            <a:extLst>
              <a:ext uri="{FF2B5EF4-FFF2-40B4-BE49-F238E27FC236}">
                <a16:creationId xmlns:a16="http://schemas.microsoft.com/office/drawing/2014/main" id="{F99DAB1A-5388-3394-9DAB-1BCDE04039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A37836A-1DB3-5AAE-216F-14F4AD48A0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E0068D-4C10-4A80-AFB0-CEBE90C3AD15}" type="slidenum">
              <a:rPr lang="en-IN" smtClean="0"/>
              <a:t>‹#›</a:t>
            </a:fld>
            <a:endParaRPr lang="en-IN"/>
          </a:p>
        </p:txBody>
      </p:sp>
    </p:spTree>
    <p:extLst>
      <p:ext uri="{BB962C8B-B14F-4D97-AF65-F5344CB8AC3E}">
        <p14:creationId xmlns:p14="http://schemas.microsoft.com/office/powerpoint/2010/main" val="23998894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D12B5-14B2-0F03-E7ED-0F888E8AF163}"/>
              </a:ext>
            </a:extLst>
          </p:cNvPr>
          <p:cNvSpPr>
            <a:spLocks noGrp="1"/>
          </p:cNvSpPr>
          <p:nvPr>
            <p:ph type="ctrTitle"/>
          </p:nvPr>
        </p:nvSpPr>
        <p:spPr>
          <a:xfrm>
            <a:off x="1524000" y="1600199"/>
            <a:ext cx="9144000" cy="1909763"/>
          </a:xfrm>
        </p:spPr>
        <p:txBody>
          <a:bodyPr/>
          <a:lstStyle/>
          <a:p>
            <a:r>
              <a:rPr lang="en-US" dirty="0"/>
              <a:t>OBJECT ORIENTED PROGRAMING USING JAVA</a:t>
            </a:r>
            <a:endParaRPr lang="en-IN" dirty="0"/>
          </a:p>
        </p:txBody>
      </p:sp>
      <p:sp>
        <p:nvSpPr>
          <p:cNvPr id="3" name="Subtitle 2">
            <a:extLst>
              <a:ext uri="{FF2B5EF4-FFF2-40B4-BE49-F238E27FC236}">
                <a16:creationId xmlns:a16="http://schemas.microsoft.com/office/drawing/2014/main" id="{95442678-9583-70B3-43F2-56B19D4DA1E3}"/>
              </a:ext>
            </a:extLst>
          </p:cNvPr>
          <p:cNvSpPr>
            <a:spLocks noGrp="1"/>
          </p:cNvSpPr>
          <p:nvPr>
            <p:ph type="subTitle" idx="1"/>
          </p:nvPr>
        </p:nvSpPr>
        <p:spPr>
          <a:xfrm>
            <a:off x="4890198" y="5420789"/>
            <a:ext cx="9144000" cy="1331703"/>
          </a:xfrm>
        </p:spPr>
        <p:txBody>
          <a:bodyPr>
            <a:normAutofit/>
          </a:bodyPr>
          <a:lstStyle/>
          <a:p>
            <a:r>
              <a:rPr lang="en-US" sz="4400" dirty="0"/>
              <a:t>SAURABH RASTOGI</a:t>
            </a:r>
            <a:endParaRPr lang="en-IN" sz="4400" dirty="0"/>
          </a:p>
        </p:txBody>
      </p:sp>
    </p:spTree>
    <p:extLst>
      <p:ext uri="{BB962C8B-B14F-4D97-AF65-F5344CB8AC3E}">
        <p14:creationId xmlns:p14="http://schemas.microsoft.com/office/powerpoint/2010/main" val="1170651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016E4-CF78-688B-3E10-DB53FE5C1655}"/>
              </a:ext>
            </a:extLst>
          </p:cNvPr>
          <p:cNvSpPr>
            <a:spLocks noGrp="1"/>
          </p:cNvSpPr>
          <p:nvPr>
            <p:ph type="title"/>
          </p:nvPr>
        </p:nvSpPr>
        <p:spPr/>
        <p:txBody>
          <a:bodyPr/>
          <a:lstStyle/>
          <a:p>
            <a:r>
              <a:rPr lang="en-US" dirty="0"/>
              <a:t>Introduction to Java</a:t>
            </a:r>
            <a:br>
              <a:rPr lang="en-US" dirty="0"/>
            </a:br>
            <a:endParaRPr lang="en-IN" dirty="0"/>
          </a:p>
        </p:txBody>
      </p:sp>
      <p:sp>
        <p:nvSpPr>
          <p:cNvPr id="3" name="Content Placeholder 2">
            <a:extLst>
              <a:ext uri="{FF2B5EF4-FFF2-40B4-BE49-F238E27FC236}">
                <a16:creationId xmlns:a16="http://schemas.microsoft.com/office/drawing/2014/main" id="{E9FE6BA3-D731-CCA8-6D14-34CC6F30F918}"/>
              </a:ext>
            </a:extLst>
          </p:cNvPr>
          <p:cNvSpPr>
            <a:spLocks noGrp="1"/>
          </p:cNvSpPr>
          <p:nvPr>
            <p:ph idx="1"/>
          </p:nvPr>
        </p:nvSpPr>
        <p:spPr/>
        <p:txBody>
          <a:bodyPr>
            <a:normAutofit lnSpcReduction="10000"/>
          </a:bodyPr>
          <a:lstStyle/>
          <a:p>
            <a:pPr algn="just"/>
            <a:r>
              <a:rPr lang="en-US" dirty="0"/>
              <a:t>Java is a popular, high-level, object-oriented programming language known for its portability, security, and robustness. Object-Oriented Programming (OOP) is central to Java, providing a way to structure code using objects and classes.</a:t>
            </a:r>
          </a:p>
          <a:p>
            <a:pPr algn="just" fontAlgn="ctr"/>
            <a:r>
              <a:rPr lang="en-IN" dirty="0"/>
              <a:t> It is </a:t>
            </a:r>
            <a:r>
              <a:rPr lang="en-US" dirty="0"/>
              <a:t>developed by Sun Microsystems (now owned by Oracle Corporation). It is renowned for its "Write Once, Run Anywhere" (WORA) capability, meaning that compiled Java code can execute on any platform that supports a Java Virtual Machine (JVM) without requiring recompilation. </a:t>
            </a:r>
          </a:p>
          <a:p>
            <a:pPr marL="0" indent="0">
              <a:buNone/>
            </a:pPr>
            <a:br>
              <a:rPr lang="en-US" dirty="0"/>
            </a:br>
            <a:endParaRPr lang="en-IN" dirty="0"/>
          </a:p>
        </p:txBody>
      </p:sp>
    </p:spTree>
    <p:extLst>
      <p:ext uri="{BB962C8B-B14F-4D97-AF65-F5344CB8AC3E}">
        <p14:creationId xmlns:p14="http://schemas.microsoft.com/office/powerpoint/2010/main" val="18332215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BD7B7-E8D3-F50C-681C-7D8E9490EA34}"/>
              </a:ext>
            </a:extLst>
          </p:cNvPr>
          <p:cNvSpPr>
            <a:spLocks noGrp="1"/>
          </p:cNvSpPr>
          <p:nvPr>
            <p:ph type="title"/>
          </p:nvPr>
        </p:nvSpPr>
        <p:spPr/>
        <p:txBody>
          <a:bodyPr/>
          <a:lstStyle/>
          <a:p>
            <a:r>
              <a:rPr lang="en-US" dirty="0"/>
              <a:t>Key characteristics of Java include:</a:t>
            </a:r>
            <a:endParaRPr lang="en-IN" dirty="0"/>
          </a:p>
        </p:txBody>
      </p:sp>
      <p:sp>
        <p:nvSpPr>
          <p:cNvPr id="3" name="Content Placeholder 2">
            <a:extLst>
              <a:ext uri="{FF2B5EF4-FFF2-40B4-BE49-F238E27FC236}">
                <a16:creationId xmlns:a16="http://schemas.microsoft.com/office/drawing/2014/main" id="{CF14F6D9-44CE-BE65-0540-52C52CE461D2}"/>
              </a:ext>
            </a:extLst>
          </p:cNvPr>
          <p:cNvSpPr>
            <a:spLocks noGrp="1"/>
          </p:cNvSpPr>
          <p:nvPr>
            <p:ph idx="1"/>
          </p:nvPr>
        </p:nvSpPr>
        <p:spPr/>
        <p:txBody>
          <a:bodyPr/>
          <a:lstStyle/>
          <a:p>
            <a:r>
              <a:rPr lang="en-US" b="1" dirty="0"/>
              <a:t>Object-Oriented:</a:t>
            </a:r>
            <a:endParaRPr lang="en-US" dirty="0"/>
          </a:p>
          <a:p>
            <a:r>
              <a:rPr lang="en-US" dirty="0"/>
              <a:t>Java follows the object-oriented programming (OOP) paradigm, organizing code into reusable components called objects and classes. This promotes modularity, reusability, and maintainability.</a:t>
            </a:r>
          </a:p>
          <a:p>
            <a:r>
              <a:rPr lang="en-US" b="1" dirty="0"/>
              <a:t>Platform Independent:</a:t>
            </a:r>
            <a:endParaRPr lang="en-US" dirty="0"/>
          </a:p>
          <a:p>
            <a:r>
              <a:rPr lang="en-US" dirty="0"/>
              <a:t>Through the JVM, Java achieves platform independence. Code is compiled into bytecode, which the JVM then interprets and executes on the specific operating system.</a:t>
            </a:r>
          </a:p>
          <a:p>
            <a:pPr marL="0" indent="0">
              <a:buNone/>
            </a:pPr>
            <a:endParaRPr lang="en-IN" dirty="0"/>
          </a:p>
        </p:txBody>
      </p:sp>
    </p:spTree>
    <p:extLst>
      <p:ext uri="{BB962C8B-B14F-4D97-AF65-F5344CB8AC3E}">
        <p14:creationId xmlns:p14="http://schemas.microsoft.com/office/powerpoint/2010/main" val="911571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E0984-ECD4-02A9-108E-16E49072F81F}"/>
              </a:ext>
            </a:extLst>
          </p:cNvPr>
          <p:cNvSpPr>
            <a:spLocks noGrp="1"/>
          </p:cNvSpPr>
          <p:nvPr>
            <p:ph type="title"/>
          </p:nvPr>
        </p:nvSpPr>
        <p:spPr/>
        <p:txBody>
          <a:bodyPr/>
          <a:lstStyle/>
          <a:p>
            <a:r>
              <a:rPr lang="en-US" dirty="0"/>
              <a:t>Key characteristics of Java Cont. :</a:t>
            </a:r>
            <a:endParaRPr lang="en-IN" dirty="0"/>
          </a:p>
        </p:txBody>
      </p:sp>
      <p:sp>
        <p:nvSpPr>
          <p:cNvPr id="3" name="Content Placeholder 2">
            <a:extLst>
              <a:ext uri="{FF2B5EF4-FFF2-40B4-BE49-F238E27FC236}">
                <a16:creationId xmlns:a16="http://schemas.microsoft.com/office/drawing/2014/main" id="{D13A8F76-5A05-89E4-FFE3-62F167CCAA42}"/>
              </a:ext>
            </a:extLst>
          </p:cNvPr>
          <p:cNvSpPr>
            <a:spLocks noGrp="1"/>
          </p:cNvSpPr>
          <p:nvPr>
            <p:ph idx="1"/>
          </p:nvPr>
        </p:nvSpPr>
        <p:spPr/>
        <p:txBody>
          <a:bodyPr>
            <a:normAutofit fontScale="85000" lnSpcReduction="20000"/>
          </a:bodyPr>
          <a:lstStyle/>
          <a:p>
            <a:r>
              <a:rPr lang="en-US" b="1" dirty="0"/>
              <a:t>Simple and Familiar Syntax:</a:t>
            </a:r>
            <a:endParaRPr lang="en-US" dirty="0"/>
          </a:p>
          <a:p>
            <a:r>
              <a:rPr lang="en-US" dirty="0"/>
              <a:t>Java's syntax is similar to C and C++, making it relatively easy for developers familiar with these languages to learn.</a:t>
            </a:r>
          </a:p>
          <a:p>
            <a:r>
              <a:rPr lang="en-US" b="1" dirty="0"/>
              <a:t>Secure and Robust:</a:t>
            </a:r>
            <a:endParaRPr lang="en-US" dirty="0"/>
          </a:p>
          <a:p>
            <a:r>
              <a:rPr lang="en-US" dirty="0"/>
              <a:t>Java incorporates features like automatic garbage collection and strong memory management, contributing to robust and secure applications. It also includes security features to protect against malicious code.</a:t>
            </a:r>
          </a:p>
          <a:p>
            <a:r>
              <a:rPr lang="en-US" b="1" dirty="0"/>
              <a:t>Multi-threaded:</a:t>
            </a:r>
            <a:endParaRPr lang="en-US" dirty="0"/>
          </a:p>
          <a:p>
            <a:r>
              <a:rPr lang="en-US" dirty="0"/>
              <a:t>Java supports multi-threading, allowing programs to perform multiple tasks concurrently, improving performance and responsiveness.</a:t>
            </a:r>
          </a:p>
          <a:p>
            <a:r>
              <a:rPr lang="en-US" b="1" dirty="0"/>
              <a:t>Extensive Libraries and APIs:</a:t>
            </a:r>
            <a:endParaRPr lang="en-US" dirty="0"/>
          </a:p>
          <a:p>
            <a:r>
              <a:rPr lang="en-US" dirty="0"/>
              <a:t>Java boasts a vast collection of pre-built libraries and Application Programming Interfaces (APIs), simplifying development for various applications.</a:t>
            </a:r>
          </a:p>
          <a:p>
            <a:pPr marL="0" indent="0">
              <a:buNone/>
            </a:pPr>
            <a:endParaRPr lang="en-IN" dirty="0"/>
          </a:p>
        </p:txBody>
      </p:sp>
    </p:spTree>
    <p:extLst>
      <p:ext uri="{BB962C8B-B14F-4D97-AF65-F5344CB8AC3E}">
        <p14:creationId xmlns:p14="http://schemas.microsoft.com/office/powerpoint/2010/main" val="1924895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EF40C-AD21-FF0A-5E47-E41FEA05BB8F}"/>
              </a:ext>
            </a:extLst>
          </p:cNvPr>
          <p:cNvSpPr>
            <a:spLocks noGrp="1"/>
          </p:cNvSpPr>
          <p:nvPr>
            <p:ph type="title"/>
          </p:nvPr>
        </p:nvSpPr>
        <p:spPr/>
        <p:txBody>
          <a:bodyPr/>
          <a:lstStyle/>
          <a:p>
            <a:r>
              <a:rPr lang="en-US" dirty="0"/>
              <a:t>Common applications of Java include:</a:t>
            </a:r>
            <a:endParaRPr lang="en-IN" dirty="0"/>
          </a:p>
        </p:txBody>
      </p:sp>
      <p:sp>
        <p:nvSpPr>
          <p:cNvPr id="3" name="Content Placeholder 2">
            <a:extLst>
              <a:ext uri="{FF2B5EF4-FFF2-40B4-BE49-F238E27FC236}">
                <a16:creationId xmlns:a16="http://schemas.microsoft.com/office/drawing/2014/main" id="{BD16E185-43A2-D063-F794-7F2DF0B6CD2C}"/>
              </a:ext>
            </a:extLst>
          </p:cNvPr>
          <p:cNvSpPr>
            <a:spLocks noGrp="1"/>
          </p:cNvSpPr>
          <p:nvPr>
            <p:ph idx="1"/>
          </p:nvPr>
        </p:nvSpPr>
        <p:spPr/>
        <p:txBody>
          <a:bodyPr>
            <a:normAutofit fontScale="92500" lnSpcReduction="20000"/>
          </a:bodyPr>
          <a:lstStyle/>
          <a:p>
            <a:r>
              <a:rPr lang="en-US" b="1" dirty="0"/>
              <a:t>Enterprise Applications:</a:t>
            </a:r>
            <a:r>
              <a:rPr lang="en-US" dirty="0"/>
              <a:t> Widely used for large-scale, mission-critical enterprise systems.</a:t>
            </a:r>
          </a:p>
          <a:p>
            <a:r>
              <a:rPr lang="en-US" b="1" dirty="0"/>
              <a:t>Android App Development:</a:t>
            </a:r>
            <a:r>
              <a:rPr lang="en-US" dirty="0"/>
              <a:t> The primary language for developing applications for the Android mobile platform.</a:t>
            </a:r>
          </a:p>
          <a:p>
            <a:r>
              <a:rPr lang="en-US" b="1" dirty="0"/>
              <a:t>Web Applications:</a:t>
            </a:r>
            <a:r>
              <a:rPr lang="en-US" dirty="0"/>
              <a:t> Used for building server-side components of web applications, often with frameworks like Spring and Java EE.</a:t>
            </a:r>
          </a:p>
          <a:p>
            <a:r>
              <a:rPr lang="en-US" b="1" dirty="0"/>
              <a:t>Desktop Applications:</a:t>
            </a:r>
            <a:r>
              <a:rPr lang="en-US" dirty="0"/>
              <a:t> Capable of creating cross-platform desktop applications.</a:t>
            </a:r>
          </a:p>
          <a:p>
            <a:pPr fontAlgn="ctr"/>
            <a:r>
              <a:rPr lang="en-US" b="1" dirty="0"/>
              <a:t>Big Data Technologies:</a:t>
            </a:r>
            <a:r>
              <a:rPr lang="en-US" dirty="0"/>
              <a:t> Plays a role in various big data frameworks and tools.</a:t>
            </a:r>
          </a:p>
          <a:p>
            <a:pPr marL="0" indent="0">
              <a:buNone/>
            </a:pPr>
            <a:br>
              <a:rPr lang="en-US" dirty="0">
                <a:effectLst/>
              </a:rPr>
            </a:br>
            <a:endParaRPr lang="en-IN" dirty="0"/>
          </a:p>
        </p:txBody>
      </p:sp>
    </p:spTree>
    <p:extLst>
      <p:ext uri="{BB962C8B-B14F-4D97-AF65-F5344CB8AC3E}">
        <p14:creationId xmlns:p14="http://schemas.microsoft.com/office/powerpoint/2010/main" val="317258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E09B6-6A5E-8A35-675F-4EBBBDE435CC}"/>
              </a:ext>
            </a:extLst>
          </p:cNvPr>
          <p:cNvSpPr>
            <a:spLocks noGrp="1"/>
          </p:cNvSpPr>
          <p:nvPr>
            <p:ph type="title"/>
          </p:nvPr>
        </p:nvSpPr>
        <p:spPr/>
        <p:txBody>
          <a:bodyPr/>
          <a:lstStyle/>
          <a:p>
            <a:r>
              <a:rPr lang="en-US" dirty="0"/>
              <a:t>Object Oriented Programing Concepts</a:t>
            </a:r>
            <a:endParaRPr lang="en-IN" dirty="0"/>
          </a:p>
        </p:txBody>
      </p:sp>
      <p:pic>
        <p:nvPicPr>
          <p:cNvPr id="5" name="Content Placeholder 4">
            <a:extLst>
              <a:ext uri="{FF2B5EF4-FFF2-40B4-BE49-F238E27FC236}">
                <a16:creationId xmlns:a16="http://schemas.microsoft.com/office/drawing/2014/main" id="{9DCA3306-6A0C-5826-358B-DC25B4B0EDC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06510" y="1500996"/>
            <a:ext cx="8272327" cy="4865301"/>
          </a:xfrm>
        </p:spPr>
      </p:pic>
    </p:spTree>
    <p:extLst>
      <p:ext uri="{BB962C8B-B14F-4D97-AF65-F5344CB8AC3E}">
        <p14:creationId xmlns:p14="http://schemas.microsoft.com/office/powerpoint/2010/main" val="1721850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49947-2499-11E7-0484-0A006375B1FE}"/>
              </a:ext>
            </a:extLst>
          </p:cNvPr>
          <p:cNvSpPr>
            <a:spLocks noGrp="1"/>
          </p:cNvSpPr>
          <p:nvPr>
            <p:ph type="title"/>
          </p:nvPr>
        </p:nvSpPr>
        <p:spPr/>
        <p:txBody>
          <a:bodyPr>
            <a:normAutofit fontScale="90000"/>
          </a:bodyPr>
          <a:lstStyle/>
          <a:p>
            <a:br>
              <a:rPr lang="en-IN" dirty="0"/>
            </a:br>
            <a:br>
              <a:rPr lang="en-IN" dirty="0"/>
            </a:br>
            <a:r>
              <a:rPr lang="en-IN" b="1" dirty="0"/>
              <a:t> Class :</a:t>
            </a:r>
            <a:br>
              <a:rPr lang="en-IN" dirty="0"/>
            </a:br>
            <a:br>
              <a:rPr lang="en-IN" dirty="0"/>
            </a:br>
            <a:endParaRPr lang="en-IN" dirty="0"/>
          </a:p>
        </p:txBody>
      </p:sp>
      <p:sp>
        <p:nvSpPr>
          <p:cNvPr id="3" name="Content Placeholder 2">
            <a:extLst>
              <a:ext uri="{FF2B5EF4-FFF2-40B4-BE49-F238E27FC236}">
                <a16:creationId xmlns:a16="http://schemas.microsoft.com/office/drawing/2014/main" id="{24BFD0FD-A8F7-EC51-ED7C-9FAFF2D1A5CB}"/>
              </a:ext>
            </a:extLst>
          </p:cNvPr>
          <p:cNvSpPr>
            <a:spLocks noGrp="1"/>
          </p:cNvSpPr>
          <p:nvPr>
            <p:ph idx="1"/>
          </p:nvPr>
        </p:nvSpPr>
        <p:spPr/>
        <p:txBody>
          <a:bodyPr>
            <a:normAutofit lnSpcReduction="10000"/>
          </a:bodyPr>
          <a:lstStyle/>
          <a:p>
            <a:r>
              <a:rPr lang="en-US" dirty="0"/>
              <a:t> A class is a blueprint for creating objects. It defines properties (fields) and methods (functions).</a:t>
            </a:r>
          </a:p>
          <a:p>
            <a:endParaRPr lang="en-US" dirty="0"/>
          </a:p>
          <a:p>
            <a:pPr marL="0" indent="0">
              <a:buNone/>
            </a:pPr>
            <a:r>
              <a:rPr lang="en-US" dirty="0"/>
              <a:t>public class Car {</a:t>
            </a:r>
          </a:p>
          <a:p>
            <a:pPr marL="0" indent="0">
              <a:buNone/>
            </a:pPr>
            <a:r>
              <a:rPr lang="en-US" dirty="0"/>
              <a:t>    String color;</a:t>
            </a:r>
          </a:p>
          <a:p>
            <a:pPr marL="0" indent="0">
              <a:buNone/>
            </a:pPr>
            <a:r>
              <a:rPr lang="en-US" dirty="0"/>
              <a:t>    void drive() {</a:t>
            </a:r>
          </a:p>
          <a:p>
            <a:pPr marL="0" indent="0">
              <a:buNone/>
            </a:pPr>
            <a:r>
              <a:rPr lang="en-US" dirty="0"/>
              <a:t>        </a:t>
            </a:r>
            <a:r>
              <a:rPr lang="en-US" dirty="0" err="1"/>
              <a:t>System.out.println</a:t>
            </a:r>
            <a:r>
              <a:rPr lang="en-US" dirty="0"/>
              <a:t>("Car is driving");</a:t>
            </a:r>
          </a:p>
          <a:p>
            <a:pPr marL="0" indent="0">
              <a:buNone/>
            </a:pPr>
            <a:r>
              <a:rPr lang="en-US" dirty="0"/>
              <a:t>    }</a:t>
            </a:r>
          </a:p>
          <a:p>
            <a:pPr marL="0" indent="0">
              <a:buNone/>
            </a:pPr>
            <a:r>
              <a:rPr lang="en-US" dirty="0"/>
              <a:t>}</a:t>
            </a:r>
          </a:p>
          <a:p>
            <a:endParaRPr lang="en-IN" dirty="0"/>
          </a:p>
        </p:txBody>
      </p:sp>
    </p:spTree>
    <p:extLst>
      <p:ext uri="{BB962C8B-B14F-4D97-AF65-F5344CB8AC3E}">
        <p14:creationId xmlns:p14="http://schemas.microsoft.com/office/powerpoint/2010/main" val="3475325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70711-4529-1D4E-53EF-3DD612A077A4}"/>
              </a:ext>
            </a:extLst>
          </p:cNvPr>
          <p:cNvSpPr>
            <a:spLocks noGrp="1"/>
          </p:cNvSpPr>
          <p:nvPr>
            <p:ph type="title"/>
          </p:nvPr>
        </p:nvSpPr>
        <p:spPr>
          <a:xfrm>
            <a:off x="838200" y="365125"/>
            <a:ext cx="10515600" cy="663575"/>
          </a:xfrm>
        </p:spPr>
        <p:txBody>
          <a:bodyPr>
            <a:normAutofit fontScale="90000"/>
          </a:bodyPr>
          <a:lstStyle/>
          <a:p>
            <a:r>
              <a:rPr lang="en-US" altLang="en-US" dirty="0">
                <a:solidFill>
                  <a:srgbClr val="001D35"/>
                </a:solidFill>
                <a:latin typeface="Google Sans"/>
              </a:rPr>
              <a:t>Key aspects of a Java class:</a:t>
            </a:r>
            <a:br>
              <a:rPr lang="en-US" altLang="en-US" dirty="0"/>
            </a:br>
            <a:endParaRPr lang="en-IN" dirty="0"/>
          </a:p>
        </p:txBody>
      </p:sp>
      <p:sp>
        <p:nvSpPr>
          <p:cNvPr id="4" name="Rectangle 1">
            <a:extLst>
              <a:ext uri="{FF2B5EF4-FFF2-40B4-BE49-F238E27FC236}">
                <a16:creationId xmlns:a16="http://schemas.microsoft.com/office/drawing/2014/main" id="{66C2E0CA-C35D-0E28-8830-396C6C731810}"/>
              </a:ext>
            </a:extLst>
          </p:cNvPr>
          <p:cNvSpPr>
            <a:spLocks noGrp="1" noChangeArrowheads="1"/>
          </p:cNvSpPr>
          <p:nvPr>
            <p:ph idx="1"/>
          </p:nvPr>
        </p:nvSpPr>
        <p:spPr bwMode="auto">
          <a:xfrm>
            <a:off x="263769" y="817946"/>
            <a:ext cx="10773507" cy="60400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1D35"/>
                </a:solidFill>
                <a:effectLst/>
                <a:latin typeface="Google Sans"/>
              </a:rPr>
              <a:t>Declaration:</a:t>
            </a:r>
            <a:r>
              <a:rPr kumimoji="0" lang="en-US" altLang="en-US" sz="2000" b="0" i="0" u="none" strike="noStrike" cap="none" normalizeH="0" baseline="0" dirty="0">
                <a:ln>
                  <a:noFill/>
                </a:ln>
                <a:solidFill>
                  <a:srgbClr val="001D35"/>
                </a:solidFill>
                <a:effectLst/>
                <a:latin typeface="Google Sans"/>
              </a:rPr>
              <a:t> A class is declared using the </a:t>
            </a:r>
            <a:r>
              <a:rPr kumimoji="0" lang="en-US" altLang="en-US" sz="2000" b="0" i="0" u="none" strike="noStrike" cap="none" normalizeH="0" baseline="0" dirty="0">
                <a:ln>
                  <a:noFill/>
                </a:ln>
                <a:solidFill>
                  <a:srgbClr val="001D35"/>
                </a:solidFill>
                <a:effectLst/>
                <a:latin typeface="Courier New" panose="02070309020205020404" pitchFamily="49" charset="0"/>
                <a:cs typeface="Courier New" panose="02070309020205020404" pitchFamily="49" charset="0"/>
              </a:rPr>
              <a:t>class</a:t>
            </a:r>
            <a:r>
              <a:rPr kumimoji="0" lang="en-US" altLang="en-US" sz="2000" b="0" i="0" u="none" strike="noStrike" cap="none" normalizeH="0" baseline="0" dirty="0">
                <a:ln>
                  <a:noFill/>
                </a:ln>
                <a:solidFill>
                  <a:srgbClr val="001D35"/>
                </a:solidFill>
                <a:effectLst/>
                <a:latin typeface="Google Sans"/>
              </a:rPr>
              <a:t> keyword, followed by the class name, and a body enclosed in curly braces </a:t>
            </a:r>
            <a:r>
              <a:rPr kumimoji="0" lang="en-US" altLang="en-US" sz="2000" b="0" i="0" u="none" strike="noStrike" cap="none" normalizeH="0" baseline="0" dirty="0">
                <a:ln>
                  <a:noFill/>
                </a:ln>
                <a:solidFill>
                  <a:srgbClr val="001D35"/>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1D35"/>
                </a:solidFill>
                <a:effectLst/>
                <a:latin typeface="Google Sans"/>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1D35"/>
                </a:solidFill>
                <a:effectLst/>
                <a:latin typeface="Google Sans"/>
              </a:rPr>
              <a:t>Java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9334E6"/>
                </a:solidFill>
                <a:effectLst/>
                <a:latin typeface="Courier New" panose="02070309020205020404" pitchFamily="49" charset="0"/>
                <a:cs typeface="Courier New" panose="02070309020205020404" pitchFamily="49" charset="0"/>
              </a:rPr>
              <a:t>public</a:t>
            </a:r>
            <a:r>
              <a:rPr kumimoji="0" lang="en-US" altLang="en-US" sz="2000" b="0" i="0" u="none" strike="noStrike" cap="none" normalizeH="0" baseline="0" dirty="0">
                <a:ln>
                  <a:noFill/>
                </a:ln>
                <a:solidFill>
                  <a:srgbClr val="001D35"/>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9334E6"/>
                </a:solidFill>
                <a:effectLst/>
                <a:latin typeface="Courier New" panose="02070309020205020404" pitchFamily="49" charset="0"/>
                <a:cs typeface="Courier New" panose="02070309020205020404" pitchFamily="49" charset="0"/>
              </a:rPr>
              <a:t>class</a:t>
            </a:r>
            <a:r>
              <a:rPr kumimoji="0" lang="en-US" altLang="en-US" sz="2000" b="0" i="0" u="none" strike="noStrike" cap="none" normalizeH="0" baseline="0" dirty="0">
                <a:ln>
                  <a:noFill/>
                </a:ln>
                <a:solidFill>
                  <a:srgbClr val="001D35"/>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err="1">
                <a:ln>
                  <a:noFill/>
                </a:ln>
                <a:solidFill>
                  <a:srgbClr val="9334E6"/>
                </a:solidFill>
                <a:effectLst/>
                <a:latin typeface="Courier New" panose="02070309020205020404" pitchFamily="49" charset="0"/>
                <a:cs typeface="Courier New" panose="02070309020205020404" pitchFamily="49" charset="0"/>
              </a:rPr>
              <a:t>ClassName</a:t>
            </a:r>
            <a:r>
              <a:rPr kumimoji="0" lang="en-US" altLang="en-US" sz="2000" b="0" i="0" u="none" strike="noStrike" cap="none" normalizeH="0" baseline="0" dirty="0">
                <a:ln>
                  <a:noFill/>
                </a:ln>
                <a:solidFill>
                  <a:srgbClr val="001D35"/>
                </a:solidFill>
                <a:effectLst/>
                <a:latin typeface="Courier New" panose="02070309020205020404" pitchFamily="49" charset="0"/>
                <a:cs typeface="Courier New" panose="02070309020205020404" pitchFamily="49" charset="0"/>
              </a:rPr>
              <a:t> {</a:t>
            </a:r>
            <a:br>
              <a:rPr kumimoji="0" lang="en-US" altLang="en-US" sz="2000" b="0" i="0" u="none" strike="noStrike" cap="none" normalizeH="0" baseline="0" dirty="0">
                <a:ln>
                  <a:noFill/>
                </a:ln>
                <a:solidFill>
                  <a:srgbClr val="001D35"/>
                </a:solidFill>
                <a:effectLst/>
                <a:latin typeface="Courier New" panose="02070309020205020404" pitchFamily="49" charset="0"/>
                <a:cs typeface="Courier New" panose="02070309020205020404" pitchFamily="49" charset="0"/>
              </a:rPr>
            </a:br>
            <a:r>
              <a:rPr kumimoji="0" lang="en-US" altLang="en-US" sz="2000" b="0" i="1" u="none" strike="noStrike" cap="none" normalizeH="0" baseline="0" dirty="0">
                <a:ln>
                  <a:noFill/>
                </a:ln>
                <a:solidFill>
                  <a:srgbClr val="80868B"/>
                </a:solidFill>
                <a:effectLst/>
                <a:latin typeface="Courier New" panose="02070309020205020404" pitchFamily="49" charset="0"/>
                <a:cs typeface="Courier New" panose="02070309020205020404" pitchFamily="49" charset="0"/>
              </a:rPr>
              <a:t>// class body: fields, constructors, methods</a:t>
            </a:r>
            <a:br>
              <a:rPr kumimoji="0" lang="en-US" altLang="en-US" sz="2000" b="0" i="0" u="none" strike="noStrike" cap="none" normalizeH="0" baseline="0" dirty="0">
                <a:ln>
                  <a:noFill/>
                </a:ln>
                <a:solidFill>
                  <a:srgbClr val="001D35"/>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dirty="0">
                <a:ln>
                  <a:noFill/>
                </a:ln>
                <a:solidFill>
                  <a:srgbClr val="001D35"/>
                </a:solidFill>
                <a:effectLst/>
                <a:latin typeface="Courier New" panose="02070309020205020404" pitchFamily="49" charset="0"/>
                <a:cs typeface="Courier New" panose="02070309020205020404" pitchFamily="49" charset="0"/>
              </a:rPr>
              <a: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1D35"/>
                </a:solidFill>
                <a:effectLst/>
                <a:latin typeface="Google Sans"/>
              </a:rPr>
              <a:t>Fields (Attributes/Instance Variables):</a:t>
            </a:r>
            <a:endParaRPr kumimoji="0" lang="en-US" altLang="en-US" sz="20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545D7E"/>
                </a:solidFill>
                <a:effectLst/>
                <a:latin typeface="Google Sans"/>
              </a:rPr>
              <a:t>These are variables declared within the class that hold data specific to each object created from that class.</a:t>
            </a:r>
            <a:endParaRPr kumimoji="0" lang="en-US" altLang="en-US" sz="20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Methods:</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545D7E"/>
                </a:solidFill>
                <a:effectLst/>
              </a:rPr>
              <a:t>These are functions defined within the class that represent the behaviors or actions an object of that class can perform.</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Constructors:</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545D7E"/>
                </a:solidFill>
                <a:effectLst/>
              </a:rPr>
              <a:t>Special methods used to initialize objects when they are created.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545D7E"/>
                </a:solidFill>
                <a:effectLst/>
              </a:rPr>
              <a:t>They have the same name as the class and do not have a return type.</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Objects (Instances):</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545D7E"/>
                </a:solidFill>
                <a:effectLst/>
              </a:rPr>
              <a:t>An object is a concrete realization or instance of a class. When an object is created,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545D7E"/>
                </a:solidFill>
                <a:effectLst/>
              </a:rPr>
              <a:t> it allocates memory to store its specific field values and can invoke the methods defined in its class. </a:t>
            </a:r>
            <a:endParaRPr kumimoji="0" lang="en-US" altLang="en-US"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586726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D1B55-147E-258D-3224-7C87C1F0D86D}"/>
              </a:ext>
            </a:extLst>
          </p:cNvPr>
          <p:cNvSpPr>
            <a:spLocks noGrp="1"/>
          </p:cNvSpPr>
          <p:nvPr>
            <p:ph type="title"/>
          </p:nvPr>
        </p:nvSpPr>
        <p:spPr/>
        <p:txBody>
          <a:bodyPr/>
          <a:lstStyle/>
          <a:p>
            <a:r>
              <a:rPr lang="en-US" dirty="0"/>
              <a:t>OBJECT</a:t>
            </a:r>
            <a:endParaRPr lang="en-IN" dirty="0"/>
          </a:p>
        </p:txBody>
      </p:sp>
      <p:sp>
        <p:nvSpPr>
          <p:cNvPr id="3" name="Content Placeholder 2">
            <a:extLst>
              <a:ext uri="{FF2B5EF4-FFF2-40B4-BE49-F238E27FC236}">
                <a16:creationId xmlns:a16="http://schemas.microsoft.com/office/drawing/2014/main" id="{DEDD41F4-4DB0-B3D9-BE68-ECE3774D2CEA}"/>
              </a:ext>
            </a:extLst>
          </p:cNvPr>
          <p:cNvSpPr>
            <a:spLocks noGrp="1"/>
          </p:cNvSpPr>
          <p:nvPr>
            <p:ph idx="1"/>
          </p:nvPr>
        </p:nvSpPr>
        <p:spPr/>
        <p:txBody>
          <a:bodyPr/>
          <a:lstStyle/>
          <a:p>
            <a:r>
              <a:rPr lang="en-US" dirty="0"/>
              <a:t>Definition: An object is an instance of a class. It represents a real-world entity with state and behavior.</a:t>
            </a:r>
          </a:p>
          <a:p>
            <a:pPr marL="0" indent="0">
              <a:buNone/>
            </a:pPr>
            <a:r>
              <a:rPr lang="en-US" dirty="0"/>
              <a:t>EXAMPLE</a:t>
            </a:r>
          </a:p>
          <a:p>
            <a:pPr marL="0" indent="0">
              <a:buNone/>
            </a:pPr>
            <a:r>
              <a:rPr lang="en-US" dirty="0"/>
              <a:t>Car </a:t>
            </a:r>
            <a:r>
              <a:rPr lang="en-US" dirty="0" err="1"/>
              <a:t>myCar</a:t>
            </a:r>
            <a:r>
              <a:rPr lang="en-US" dirty="0"/>
              <a:t> = new Car();</a:t>
            </a:r>
          </a:p>
          <a:p>
            <a:pPr marL="0" indent="0">
              <a:buNone/>
            </a:pPr>
            <a:r>
              <a:rPr lang="en-US" dirty="0" err="1"/>
              <a:t>myCar.color</a:t>
            </a:r>
            <a:r>
              <a:rPr lang="en-US" dirty="0"/>
              <a:t> = "Red";</a:t>
            </a:r>
          </a:p>
          <a:p>
            <a:pPr marL="0" indent="0">
              <a:buNone/>
            </a:pPr>
            <a:r>
              <a:rPr lang="en-US" dirty="0" err="1"/>
              <a:t>myCar.drive</a:t>
            </a:r>
            <a:r>
              <a:rPr lang="en-US" dirty="0"/>
              <a:t>();</a:t>
            </a:r>
          </a:p>
          <a:p>
            <a:pPr marL="0" indent="0">
              <a:buNone/>
            </a:pPr>
            <a:endParaRPr lang="en-IN" dirty="0"/>
          </a:p>
        </p:txBody>
      </p:sp>
    </p:spTree>
    <p:extLst>
      <p:ext uri="{BB962C8B-B14F-4D97-AF65-F5344CB8AC3E}">
        <p14:creationId xmlns:p14="http://schemas.microsoft.com/office/powerpoint/2010/main" val="4128169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BB7F3B0-F48F-7C2C-187B-4D4EA7C0CD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43460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507BC-8A1A-F733-561E-99FE042CEE75}"/>
              </a:ext>
            </a:extLst>
          </p:cNvPr>
          <p:cNvSpPr>
            <a:spLocks noGrp="1"/>
          </p:cNvSpPr>
          <p:nvPr>
            <p:ph type="title"/>
          </p:nvPr>
        </p:nvSpPr>
        <p:spPr/>
        <p:txBody>
          <a:bodyPr/>
          <a:lstStyle/>
          <a:p>
            <a:r>
              <a:rPr lang="en-IN" dirty="0"/>
              <a:t>Abstraction</a:t>
            </a:r>
            <a:br>
              <a:rPr lang="en-IN" dirty="0"/>
            </a:br>
            <a:endParaRPr lang="en-IN" dirty="0"/>
          </a:p>
        </p:txBody>
      </p:sp>
      <p:sp>
        <p:nvSpPr>
          <p:cNvPr id="3" name="Content Placeholder 2">
            <a:extLst>
              <a:ext uri="{FF2B5EF4-FFF2-40B4-BE49-F238E27FC236}">
                <a16:creationId xmlns:a16="http://schemas.microsoft.com/office/drawing/2014/main" id="{BEAE76DF-E0F7-9F53-8788-3C03C2D44C2B}"/>
              </a:ext>
            </a:extLst>
          </p:cNvPr>
          <p:cNvSpPr>
            <a:spLocks noGrp="1"/>
          </p:cNvSpPr>
          <p:nvPr>
            <p:ph idx="1"/>
          </p:nvPr>
        </p:nvSpPr>
        <p:spPr/>
        <p:txBody>
          <a:bodyPr>
            <a:normAutofit fontScale="77500" lnSpcReduction="20000"/>
          </a:bodyPr>
          <a:lstStyle/>
          <a:p>
            <a:r>
              <a:rPr lang="en-US" dirty="0"/>
              <a:t>Definition: Abstraction hides complex implementation details and exposes only essential features of an object.</a:t>
            </a:r>
          </a:p>
          <a:p>
            <a:pPr marL="0" indent="0">
              <a:buNone/>
            </a:pPr>
            <a:r>
              <a:rPr lang="en-IN" dirty="0"/>
              <a:t>EXAMPLE :</a:t>
            </a:r>
          </a:p>
          <a:p>
            <a:pPr marL="0" indent="0">
              <a:buNone/>
            </a:pPr>
            <a:r>
              <a:rPr lang="en-US" dirty="0"/>
              <a:t>abstract class Animal {</a:t>
            </a:r>
          </a:p>
          <a:p>
            <a:pPr marL="0" indent="0">
              <a:buNone/>
            </a:pPr>
            <a:r>
              <a:rPr lang="en-US" dirty="0"/>
              <a:t>    abstract void </a:t>
            </a:r>
            <a:r>
              <a:rPr lang="en-US" dirty="0" err="1"/>
              <a:t>makeSound</a:t>
            </a:r>
            <a:r>
              <a:rPr lang="en-US" dirty="0"/>
              <a:t>();</a:t>
            </a:r>
          </a:p>
          <a:p>
            <a:pPr marL="0" indent="0">
              <a:buNone/>
            </a:pPr>
            <a:r>
              <a:rPr lang="en-US" dirty="0"/>
              <a:t>}</a:t>
            </a:r>
          </a:p>
          <a:p>
            <a:pPr marL="0" indent="0">
              <a:buNone/>
            </a:pPr>
            <a:r>
              <a:rPr lang="en-US" dirty="0"/>
              <a:t>class Dog extends Animal {</a:t>
            </a:r>
          </a:p>
          <a:p>
            <a:pPr marL="0" indent="0">
              <a:buNone/>
            </a:pPr>
            <a:r>
              <a:rPr lang="en-US" dirty="0"/>
              <a:t>    void </a:t>
            </a:r>
            <a:r>
              <a:rPr lang="en-US" dirty="0" err="1"/>
              <a:t>makeSound</a:t>
            </a:r>
            <a:r>
              <a:rPr lang="en-US" dirty="0"/>
              <a:t>() {</a:t>
            </a:r>
          </a:p>
          <a:p>
            <a:pPr marL="0" indent="0">
              <a:buNone/>
            </a:pPr>
            <a:r>
              <a:rPr lang="en-US" dirty="0"/>
              <a:t>        </a:t>
            </a:r>
            <a:r>
              <a:rPr lang="en-US" dirty="0" err="1"/>
              <a:t>System.out.println</a:t>
            </a:r>
            <a:r>
              <a:rPr lang="en-US" dirty="0"/>
              <a:t>("Woof");</a:t>
            </a:r>
          </a:p>
          <a:p>
            <a:pPr marL="0" indent="0">
              <a:buNone/>
            </a:pPr>
            <a:r>
              <a:rPr lang="en-US" dirty="0"/>
              <a:t>    }</a:t>
            </a:r>
          </a:p>
          <a:p>
            <a:pPr marL="0" indent="0">
              <a:buNone/>
            </a:pPr>
            <a:r>
              <a:rPr lang="en-US" dirty="0"/>
              <a:t>}</a:t>
            </a:r>
          </a:p>
          <a:p>
            <a:pPr marL="0" indent="0">
              <a:buNone/>
            </a:pPr>
            <a:r>
              <a:rPr lang="en-US" dirty="0"/>
              <a:t>// Only the action is exposed, not HOW sound is made.</a:t>
            </a:r>
          </a:p>
          <a:p>
            <a:pPr marL="0" indent="0">
              <a:buNone/>
            </a:pPr>
            <a:endParaRPr lang="en-IN" dirty="0"/>
          </a:p>
        </p:txBody>
      </p:sp>
    </p:spTree>
    <p:extLst>
      <p:ext uri="{BB962C8B-B14F-4D97-AF65-F5344CB8AC3E}">
        <p14:creationId xmlns:p14="http://schemas.microsoft.com/office/powerpoint/2010/main" val="326166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9B791-09DA-87B3-21A3-5ACA11A07D73}"/>
              </a:ext>
            </a:extLst>
          </p:cNvPr>
          <p:cNvSpPr>
            <a:spLocks noGrp="1"/>
          </p:cNvSpPr>
          <p:nvPr>
            <p:ph type="title"/>
          </p:nvPr>
        </p:nvSpPr>
        <p:spPr/>
        <p:txBody>
          <a:bodyPr/>
          <a:lstStyle/>
          <a:p>
            <a:r>
              <a:rPr lang="en-IN" dirty="0"/>
              <a:t>Encapsulation</a:t>
            </a:r>
            <a:br>
              <a:rPr lang="en-IN" dirty="0"/>
            </a:br>
            <a:endParaRPr lang="en-IN" dirty="0"/>
          </a:p>
        </p:txBody>
      </p:sp>
      <p:sp>
        <p:nvSpPr>
          <p:cNvPr id="3" name="Content Placeholder 2">
            <a:extLst>
              <a:ext uri="{FF2B5EF4-FFF2-40B4-BE49-F238E27FC236}">
                <a16:creationId xmlns:a16="http://schemas.microsoft.com/office/drawing/2014/main" id="{22033457-3B85-00B9-380E-E1AAB2A6A568}"/>
              </a:ext>
            </a:extLst>
          </p:cNvPr>
          <p:cNvSpPr>
            <a:spLocks noGrp="1"/>
          </p:cNvSpPr>
          <p:nvPr>
            <p:ph idx="1"/>
          </p:nvPr>
        </p:nvSpPr>
        <p:spPr/>
        <p:txBody>
          <a:bodyPr>
            <a:normAutofit fontScale="70000" lnSpcReduction="20000"/>
          </a:bodyPr>
          <a:lstStyle/>
          <a:p>
            <a:r>
              <a:rPr lang="en-US" dirty="0"/>
              <a:t>Definition: Encapsulation bundles data (fields) and methods operating on the data into a single unit (class) and restricts direct access to some components.</a:t>
            </a:r>
          </a:p>
          <a:p>
            <a:pPr marL="0" indent="0">
              <a:buNone/>
            </a:pPr>
            <a:r>
              <a:rPr lang="en-US" dirty="0"/>
              <a:t>EXAMPLE : </a:t>
            </a:r>
          </a:p>
          <a:p>
            <a:pPr marL="0" indent="0">
              <a:buNone/>
            </a:pPr>
            <a:r>
              <a:rPr lang="en-US" dirty="0"/>
              <a:t>public class Account {</a:t>
            </a:r>
          </a:p>
          <a:p>
            <a:pPr marL="0" indent="0">
              <a:buNone/>
            </a:pPr>
            <a:r>
              <a:rPr lang="en-US" dirty="0"/>
              <a:t>    private double balance;</a:t>
            </a:r>
          </a:p>
          <a:p>
            <a:pPr marL="0" indent="0">
              <a:buNone/>
            </a:pPr>
            <a:r>
              <a:rPr lang="en-US" dirty="0"/>
              <a:t>    public void deposit(double amount) {</a:t>
            </a:r>
          </a:p>
          <a:p>
            <a:pPr marL="0" indent="0">
              <a:buNone/>
            </a:pPr>
            <a:r>
              <a:rPr lang="en-US" dirty="0"/>
              <a:t>        balance += amount;</a:t>
            </a:r>
          </a:p>
          <a:p>
            <a:pPr marL="0" indent="0">
              <a:buNone/>
            </a:pPr>
            <a:r>
              <a:rPr lang="en-US" dirty="0"/>
              <a:t>    }</a:t>
            </a:r>
          </a:p>
          <a:p>
            <a:pPr marL="0" indent="0">
              <a:buNone/>
            </a:pPr>
            <a:r>
              <a:rPr lang="en-US" dirty="0"/>
              <a:t>    public double </a:t>
            </a:r>
            <a:r>
              <a:rPr lang="en-US" dirty="0" err="1"/>
              <a:t>getBalance</a:t>
            </a:r>
            <a:r>
              <a:rPr lang="en-US" dirty="0"/>
              <a:t>() {</a:t>
            </a:r>
          </a:p>
          <a:p>
            <a:pPr marL="0" indent="0">
              <a:buNone/>
            </a:pPr>
            <a:r>
              <a:rPr lang="en-US" dirty="0"/>
              <a:t>        return balance;</a:t>
            </a:r>
          </a:p>
          <a:p>
            <a:pPr marL="0" indent="0">
              <a:buNone/>
            </a:pPr>
            <a:r>
              <a:rPr lang="en-US" dirty="0"/>
              <a:t>    }</a:t>
            </a:r>
          </a:p>
          <a:p>
            <a:pPr marL="0" indent="0">
              <a:buNone/>
            </a:pPr>
            <a:r>
              <a:rPr lang="en-US" dirty="0"/>
              <a:t>}</a:t>
            </a:r>
          </a:p>
          <a:p>
            <a:pPr marL="0" indent="0">
              <a:buNone/>
            </a:pPr>
            <a:r>
              <a:rPr lang="en-US" dirty="0"/>
              <a:t>// balance can't be changed directly from outside; access is controlled.</a:t>
            </a:r>
          </a:p>
          <a:p>
            <a:pPr marL="0" indent="0">
              <a:buNone/>
            </a:pPr>
            <a:endParaRPr lang="en-IN" dirty="0"/>
          </a:p>
        </p:txBody>
      </p:sp>
    </p:spTree>
    <p:extLst>
      <p:ext uri="{BB962C8B-B14F-4D97-AF65-F5344CB8AC3E}">
        <p14:creationId xmlns:p14="http://schemas.microsoft.com/office/powerpoint/2010/main" val="3890239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D1DF76F-95CE-CDBA-038D-1CB1CAF15A74}"/>
              </a:ext>
            </a:extLst>
          </p:cNvPr>
          <p:cNvSpPr>
            <a:spLocks noGrp="1"/>
          </p:cNvSpPr>
          <p:nvPr>
            <p:ph type="title"/>
          </p:nvPr>
        </p:nvSpPr>
        <p:spPr>
          <a:xfrm>
            <a:off x="839788" y="365126"/>
            <a:ext cx="10515600" cy="937464"/>
          </a:xfrm>
        </p:spPr>
        <p:txBody>
          <a:bodyPr/>
          <a:lstStyle/>
          <a:p>
            <a:r>
              <a:rPr lang="en-US" dirty="0"/>
              <a:t>ABSTRACTION VS ENCAPSULATION</a:t>
            </a:r>
            <a:endParaRPr lang="en-IN" dirty="0"/>
          </a:p>
        </p:txBody>
      </p:sp>
      <p:sp>
        <p:nvSpPr>
          <p:cNvPr id="5" name="Text Placeholder 4">
            <a:extLst>
              <a:ext uri="{FF2B5EF4-FFF2-40B4-BE49-F238E27FC236}">
                <a16:creationId xmlns:a16="http://schemas.microsoft.com/office/drawing/2014/main" id="{0ED8E9CE-29C7-2655-E06D-8C484DA6CAF8}"/>
              </a:ext>
            </a:extLst>
          </p:cNvPr>
          <p:cNvSpPr>
            <a:spLocks noGrp="1"/>
          </p:cNvSpPr>
          <p:nvPr>
            <p:ph type="body" idx="1"/>
          </p:nvPr>
        </p:nvSpPr>
        <p:spPr>
          <a:xfrm>
            <a:off x="836612" y="1269207"/>
            <a:ext cx="5157787" cy="561703"/>
          </a:xfrm>
        </p:spPr>
        <p:txBody>
          <a:bodyPr/>
          <a:lstStyle/>
          <a:p>
            <a:r>
              <a:rPr lang="en-US" dirty="0"/>
              <a:t>ABSTACTION</a:t>
            </a:r>
            <a:endParaRPr lang="en-IN" dirty="0"/>
          </a:p>
        </p:txBody>
      </p:sp>
      <p:sp>
        <p:nvSpPr>
          <p:cNvPr id="6" name="Content Placeholder 5">
            <a:extLst>
              <a:ext uri="{FF2B5EF4-FFF2-40B4-BE49-F238E27FC236}">
                <a16:creationId xmlns:a16="http://schemas.microsoft.com/office/drawing/2014/main" id="{F7A54C6F-7631-1CDB-B714-3E467802ACE2}"/>
              </a:ext>
            </a:extLst>
          </p:cNvPr>
          <p:cNvSpPr>
            <a:spLocks noGrp="1"/>
          </p:cNvSpPr>
          <p:nvPr>
            <p:ph sz="half" idx="2"/>
          </p:nvPr>
        </p:nvSpPr>
        <p:spPr/>
        <p:txBody>
          <a:bodyPr>
            <a:normAutofit fontScale="77500" lnSpcReduction="20000"/>
          </a:bodyPr>
          <a:lstStyle/>
          <a:p>
            <a:pPr algn="just"/>
            <a:r>
              <a:rPr lang="en-US" dirty="0"/>
              <a:t>Abstraction is process of hiding the implementation details and showing only the functionality to the users.</a:t>
            </a:r>
          </a:p>
          <a:p>
            <a:pPr algn="just"/>
            <a:r>
              <a:rPr lang="en-US" dirty="0"/>
              <a:t>Main feature: reduce complexity, promote maintainability, and also provide clear separation between the interface and its concrete implementation.</a:t>
            </a:r>
          </a:p>
          <a:p>
            <a:pPr algn="just"/>
            <a:r>
              <a:rPr lang="en-US" dirty="0"/>
              <a:t>In abstraction, problems are solved at the design or interface level.</a:t>
            </a:r>
          </a:p>
          <a:p>
            <a:pPr algn="just"/>
            <a:r>
              <a:rPr lang="en-US" dirty="0"/>
              <a:t>Abstraction provides access to specific part of data.</a:t>
            </a:r>
          </a:p>
          <a:p>
            <a:pPr algn="just"/>
            <a:r>
              <a:rPr lang="en-US" dirty="0"/>
              <a:t>Abstraction focuses on "what" the object does .</a:t>
            </a:r>
            <a:endParaRPr lang="en-IN" dirty="0"/>
          </a:p>
        </p:txBody>
      </p:sp>
      <p:sp>
        <p:nvSpPr>
          <p:cNvPr id="7" name="Text Placeholder 6">
            <a:extLst>
              <a:ext uri="{FF2B5EF4-FFF2-40B4-BE49-F238E27FC236}">
                <a16:creationId xmlns:a16="http://schemas.microsoft.com/office/drawing/2014/main" id="{BACACD03-CCBA-32E7-8AC5-045853EF6236}"/>
              </a:ext>
            </a:extLst>
          </p:cNvPr>
          <p:cNvSpPr>
            <a:spLocks noGrp="1"/>
          </p:cNvSpPr>
          <p:nvPr>
            <p:ph type="body" sz="quarter" idx="3"/>
          </p:nvPr>
        </p:nvSpPr>
        <p:spPr>
          <a:xfrm>
            <a:off x="6175376" y="1293965"/>
            <a:ext cx="5183188" cy="561703"/>
          </a:xfrm>
        </p:spPr>
        <p:txBody>
          <a:bodyPr/>
          <a:lstStyle/>
          <a:p>
            <a:r>
              <a:rPr lang="en-US" dirty="0"/>
              <a:t>ENCAPSULATION</a:t>
            </a:r>
            <a:endParaRPr lang="en-IN" dirty="0"/>
          </a:p>
        </p:txBody>
      </p:sp>
      <p:sp>
        <p:nvSpPr>
          <p:cNvPr id="8" name="Content Placeholder 7">
            <a:extLst>
              <a:ext uri="{FF2B5EF4-FFF2-40B4-BE49-F238E27FC236}">
                <a16:creationId xmlns:a16="http://schemas.microsoft.com/office/drawing/2014/main" id="{9ED52040-5085-A3E2-EDF8-254422CDBD63}"/>
              </a:ext>
            </a:extLst>
          </p:cNvPr>
          <p:cNvSpPr>
            <a:spLocks noGrp="1"/>
          </p:cNvSpPr>
          <p:nvPr>
            <p:ph sz="quarter" idx="4"/>
          </p:nvPr>
        </p:nvSpPr>
        <p:spPr/>
        <p:txBody>
          <a:bodyPr>
            <a:normAutofit fontScale="77500" lnSpcReduction="20000"/>
          </a:bodyPr>
          <a:lstStyle/>
          <a:p>
            <a:pPr algn="just"/>
            <a:r>
              <a:rPr lang="en-US" dirty="0"/>
              <a:t>Encapsulation is a process of binding data and methods together in a single unit, providing controlled access to data.</a:t>
            </a:r>
          </a:p>
          <a:p>
            <a:pPr algn="just"/>
            <a:r>
              <a:rPr lang="en-US" dirty="0"/>
              <a:t>Main feature: data hiding, providing access control and modularity.</a:t>
            </a:r>
          </a:p>
          <a:p>
            <a:pPr algn="just"/>
            <a:r>
              <a:rPr lang="en-US" dirty="0"/>
              <a:t>While in encapsulation, problems are solved at the implementation level.</a:t>
            </a:r>
          </a:p>
          <a:p>
            <a:pPr algn="just"/>
            <a:r>
              <a:rPr lang="en-US" dirty="0"/>
              <a:t>Encapsulation hides data, preventing the users from directly accessing it, (providing controlled access) which is also known as data hiding.</a:t>
            </a:r>
          </a:p>
          <a:p>
            <a:pPr algn="just"/>
            <a:r>
              <a:rPr lang="en-US" dirty="0"/>
              <a:t>Encapsulation focuses on "How" the object does it.</a:t>
            </a:r>
            <a:endParaRPr lang="en-IN" dirty="0"/>
          </a:p>
        </p:txBody>
      </p:sp>
    </p:spTree>
    <p:extLst>
      <p:ext uri="{BB962C8B-B14F-4D97-AF65-F5344CB8AC3E}">
        <p14:creationId xmlns:p14="http://schemas.microsoft.com/office/powerpoint/2010/main" val="3590017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B25D6C6-4AAF-E937-1147-1533A3C534AC}"/>
              </a:ext>
            </a:extLst>
          </p:cNvPr>
          <p:cNvSpPr>
            <a:spLocks noGrp="1"/>
          </p:cNvSpPr>
          <p:nvPr>
            <p:ph type="title"/>
          </p:nvPr>
        </p:nvSpPr>
        <p:spPr>
          <a:xfrm>
            <a:off x="838200" y="365126"/>
            <a:ext cx="10515600" cy="980596"/>
          </a:xfrm>
        </p:spPr>
        <p:txBody>
          <a:bodyPr/>
          <a:lstStyle/>
          <a:p>
            <a:r>
              <a:rPr lang="en-US" dirty="0"/>
              <a:t>ACCESS SPECIFIERS</a:t>
            </a:r>
            <a:endParaRPr lang="en-IN" dirty="0"/>
          </a:p>
        </p:txBody>
      </p:sp>
      <p:sp>
        <p:nvSpPr>
          <p:cNvPr id="9" name="Rectangle 1">
            <a:extLst>
              <a:ext uri="{FF2B5EF4-FFF2-40B4-BE49-F238E27FC236}">
                <a16:creationId xmlns:a16="http://schemas.microsoft.com/office/drawing/2014/main" id="{5206E723-0E19-CD58-D271-275665C6C1ED}"/>
              </a:ext>
            </a:extLst>
          </p:cNvPr>
          <p:cNvSpPr>
            <a:spLocks noGrp="1" noChangeArrowheads="1"/>
          </p:cNvSpPr>
          <p:nvPr>
            <p:ph idx="1"/>
          </p:nvPr>
        </p:nvSpPr>
        <p:spPr bwMode="auto">
          <a:xfrm>
            <a:off x="838200" y="1557063"/>
            <a:ext cx="9987951" cy="488846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50784"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1D35"/>
                </a:solidFill>
                <a:effectLst/>
                <a:latin typeface="Google Sans"/>
              </a:rPr>
              <a:t>There are four types of access specifiers in Java: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01D35"/>
                </a:solidFill>
                <a:effectLst/>
                <a:latin typeface="Google Sans"/>
              </a:rPr>
              <a:t>public</a:t>
            </a:r>
            <a:r>
              <a:rPr kumimoji="0" lang="en-US" altLang="en-US" sz="1600" b="0" i="0" u="none" strike="noStrike" cap="none" normalizeH="0" baseline="0" dirty="0">
                <a:ln>
                  <a:noFill/>
                </a:ln>
                <a:solidFill>
                  <a:srgbClr val="001D35"/>
                </a:solidFill>
                <a:effectLst/>
                <a:latin typeface="Google Sans"/>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545D7E"/>
                </a:solidFill>
                <a:effectLst/>
                <a:latin typeface="Google Sans"/>
              </a:rPr>
              <a:t>Accessibility</a:t>
            </a:r>
            <a:r>
              <a:rPr kumimoji="0" lang="en-US" altLang="en-US" sz="1600" b="0" i="0" u="none" strike="noStrike" cap="none" normalizeH="0" baseline="0" dirty="0">
                <a:ln>
                  <a:noFill/>
                </a:ln>
                <a:solidFill>
                  <a:srgbClr val="545D7E"/>
                </a:solidFill>
                <a:effectLst/>
                <a:latin typeface="Google Sans"/>
              </a:rPr>
              <a:t>: Members declared as </a:t>
            </a:r>
            <a:r>
              <a:rPr kumimoji="0" lang="en-US" altLang="en-US" sz="1600" b="0" i="0" u="none" strike="noStrike" cap="none" normalizeH="0" baseline="0" dirty="0">
                <a:ln>
                  <a:noFill/>
                </a:ln>
                <a:solidFill>
                  <a:srgbClr val="545D7E"/>
                </a:solidFill>
                <a:effectLst/>
                <a:latin typeface="Courier New" panose="02070309020205020404" pitchFamily="49" charset="0"/>
                <a:cs typeface="Courier New" panose="02070309020205020404" pitchFamily="49" charset="0"/>
              </a:rPr>
              <a:t>public</a:t>
            </a:r>
            <a:r>
              <a:rPr kumimoji="0" lang="en-US" altLang="en-US" sz="1600" b="0" i="0" u="none" strike="noStrike" cap="none" normalizeH="0" baseline="0" dirty="0">
                <a:ln>
                  <a:noFill/>
                </a:ln>
                <a:solidFill>
                  <a:srgbClr val="545D7E"/>
                </a:solidFill>
                <a:effectLst/>
                <a:latin typeface="Google Sans"/>
              </a:rPr>
              <a:t> are accessible from any other class, regardless of the package.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545D7E"/>
                </a:solidFill>
                <a:effectLst/>
                <a:latin typeface="Google Sans"/>
              </a:rPr>
              <a:t>Usage</a:t>
            </a:r>
            <a:r>
              <a:rPr kumimoji="0" lang="en-US" altLang="en-US" sz="1600" b="0" i="0" u="none" strike="noStrike" cap="none" normalizeH="0" baseline="0" dirty="0">
                <a:ln>
                  <a:noFill/>
                </a:ln>
                <a:solidFill>
                  <a:srgbClr val="545D7E"/>
                </a:solidFill>
                <a:effectLst/>
                <a:latin typeface="Google Sans"/>
              </a:rPr>
              <a:t>: Typically used for methods and fields that are intended to be part of a class's public API.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01D35"/>
                </a:solidFill>
                <a:effectLst/>
                <a:latin typeface="Google Sans"/>
              </a:rPr>
              <a:t>private</a:t>
            </a:r>
            <a:r>
              <a:rPr kumimoji="0" lang="en-US" altLang="en-US" sz="1600" b="0" i="0" u="none" strike="noStrike" cap="none" normalizeH="0" baseline="0" dirty="0">
                <a:ln>
                  <a:noFill/>
                </a:ln>
                <a:solidFill>
                  <a:srgbClr val="001D35"/>
                </a:solidFill>
                <a:effectLst/>
                <a:latin typeface="Google Sans"/>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545D7E"/>
                </a:solidFill>
                <a:effectLst/>
                <a:latin typeface="Google Sans"/>
              </a:rPr>
              <a:t>Accessibility</a:t>
            </a:r>
            <a:r>
              <a:rPr kumimoji="0" lang="en-US" altLang="en-US" sz="1600" b="0" i="0" u="none" strike="noStrike" cap="none" normalizeH="0" baseline="0" dirty="0">
                <a:ln>
                  <a:noFill/>
                </a:ln>
                <a:solidFill>
                  <a:srgbClr val="545D7E"/>
                </a:solidFill>
                <a:effectLst/>
                <a:latin typeface="Google Sans"/>
              </a:rPr>
              <a:t>: Members declared as </a:t>
            </a:r>
            <a:r>
              <a:rPr kumimoji="0" lang="en-US" altLang="en-US" sz="1600" b="0" i="0" u="none" strike="noStrike" cap="none" normalizeH="0" baseline="0" dirty="0">
                <a:ln>
                  <a:noFill/>
                </a:ln>
                <a:solidFill>
                  <a:srgbClr val="545D7E"/>
                </a:solidFill>
                <a:effectLst/>
                <a:latin typeface="Courier New" panose="02070309020205020404" pitchFamily="49" charset="0"/>
                <a:cs typeface="Courier New" panose="02070309020205020404" pitchFamily="49" charset="0"/>
              </a:rPr>
              <a:t>private</a:t>
            </a:r>
            <a:r>
              <a:rPr kumimoji="0" lang="en-US" altLang="en-US" sz="1600" b="0" i="0" u="none" strike="noStrike" cap="none" normalizeH="0" baseline="0" dirty="0">
                <a:ln>
                  <a:noFill/>
                </a:ln>
                <a:solidFill>
                  <a:srgbClr val="545D7E"/>
                </a:solidFill>
                <a:effectLst/>
                <a:latin typeface="Google Sans"/>
              </a:rPr>
              <a:t> are only accessible within the class in which they are declared. </a:t>
            </a:r>
          </a:p>
          <a:p>
            <a:pPr marL="457200" marR="0" lvl="1"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rgbClr val="545D7E"/>
                </a:solidFill>
                <a:effectLst/>
                <a:latin typeface="Google Sans"/>
              </a:rPr>
              <a:t>They cannot be accessed from outside the class, even by subclasses.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545D7E"/>
                </a:solidFill>
                <a:effectLst/>
                <a:latin typeface="Google Sans"/>
              </a:rPr>
              <a:t>Usage</a:t>
            </a:r>
            <a:r>
              <a:rPr kumimoji="0" lang="en-US" altLang="en-US" sz="1600" b="0" i="0" u="none" strike="noStrike" cap="none" normalizeH="0" baseline="0" dirty="0">
                <a:ln>
                  <a:noFill/>
                </a:ln>
                <a:solidFill>
                  <a:srgbClr val="545D7E"/>
                </a:solidFill>
                <a:effectLst/>
                <a:latin typeface="Google Sans"/>
              </a:rPr>
              <a:t>: Primarily used for data hiding and encapsulating internal implementation details of a class.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01D35"/>
                </a:solidFill>
                <a:effectLst/>
                <a:latin typeface="Google Sans"/>
              </a:rPr>
              <a:t>protected</a:t>
            </a:r>
            <a:r>
              <a:rPr kumimoji="0" lang="en-US" altLang="en-US" sz="1600" b="0" i="0" u="none" strike="noStrike" cap="none" normalizeH="0" baseline="0" dirty="0">
                <a:ln>
                  <a:noFill/>
                </a:ln>
                <a:solidFill>
                  <a:srgbClr val="001D35"/>
                </a:solidFill>
                <a:effectLst/>
                <a:latin typeface="Google Sans"/>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545D7E"/>
                </a:solidFill>
                <a:effectLst/>
                <a:latin typeface="Google Sans"/>
              </a:rPr>
              <a:t>Accessibility</a:t>
            </a:r>
            <a:r>
              <a:rPr kumimoji="0" lang="en-US" altLang="en-US" sz="1600" b="0" i="0" u="none" strike="noStrike" cap="none" normalizeH="0" baseline="0" dirty="0">
                <a:ln>
                  <a:noFill/>
                </a:ln>
                <a:solidFill>
                  <a:srgbClr val="545D7E"/>
                </a:solidFill>
                <a:effectLst/>
                <a:latin typeface="Google Sans"/>
              </a:rPr>
              <a:t>: Members declared as </a:t>
            </a:r>
            <a:r>
              <a:rPr kumimoji="0" lang="en-US" altLang="en-US" sz="1600" b="0" i="0" u="none" strike="noStrike" cap="none" normalizeH="0" baseline="0" dirty="0">
                <a:ln>
                  <a:noFill/>
                </a:ln>
                <a:solidFill>
                  <a:srgbClr val="545D7E"/>
                </a:solidFill>
                <a:effectLst/>
                <a:latin typeface="Courier New" panose="02070309020205020404" pitchFamily="49" charset="0"/>
                <a:cs typeface="Courier New" panose="02070309020205020404" pitchFamily="49" charset="0"/>
              </a:rPr>
              <a:t>protected</a:t>
            </a:r>
            <a:r>
              <a:rPr kumimoji="0" lang="en-US" altLang="en-US" sz="1600" b="0" i="0" u="none" strike="noStrike" cap="none" normalizeH="0" baseline="0" dirty="0">
                <a:ln>
                  <a:noFill/>
                </a:ln>
                <a:solidFill>
                  <a:srgbClr val="545D7E"/>
                </a:solidFill>
                <a:effectLst/>
                <a:latin typeface="Google Sans"/>
              </a:rPr>
              <a:t> are accessible within the same package and by subclasses, even if those subclasses are in a different package.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545D7E"/>
                </a:solidFill>
                <a:effectLst/>
                <a:latin typeface="Google Sans"/>
              </a:rPr>
              <a:t>Usage</a:t>
            </a:r>
            <a:r>
              <a:rPr kumimoji="0" lang="en-US" altLang="en-US" sz="1600" b="0" i="0" u="none" strike="noStrike" cap="none" normalizeH="0" baseline="0" dirty="0">
                <a:ln>
                  <a:noFill/>
                </a:ln>
                <a:solidFill>
                  <a:srgbClr val="545D7E"/>
                </a:solidFill>
                <a:effectLst/>
                <a:latin typeface="Google Sans"/>
              </a:rPr>
              <a:t>: Useful when you want to allow subclasses to access certain members while preventing access from unrelated classes outside the package.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01D35"/>
                </a:solidFill>
                <a:effectLst/>
                <a:latin typeface="Google Sans"/>
              </a:rPr>
              <a:t>default (package-private)</a:t>
            </a:r>
            <a:r>
              <a:rPr kumimoji="0" lang="en-US" altLang="en-US" sz="1600" b="0" i="0" u="none" strike="noStrike" cap="none" normalizeH="0" baseline="0" dirty="0">
                <a:ln>
                  <a:noFill/>
                </a:ln>
                <a:solidFill>
                  <a:srgbClr val="001D35"/>
                </a:solidFill>
                <a:effectLst/>
                <a:latin typeface="Google Sans"/>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545D7E"/>
                </a:solidFill>
                <a:effectLst/>
                <a:latin typeface="Google Sans"/>
              </a:rPr>
              <a:t>Accessibility</a:t>
            </a:r>
            <a:r>
              <a:rPr kumimoji="0" lang="en-US" altLang="en-US" sz="1600" b="0" i="0" u="none" strike="noStrike" cap="none" normalizeH="0" baseline="0" dirty="0">
                <a:ln>
                  <a:noFill/>
                </a:ln>
                <a:solidFill>
                  <a:srgbClr val="545D7E"/>
                </a:solidFill>
                <a:effectLst/>
                <a:latin typeface="Google Sans"/>
              </a:rPr>
              <a:t>: When no access specifier is explicitly defined, the member has </a:t>
            </a:r>
            <a:r>
              <a:rPr kumimoji="0" lang="en-US" altLang="en-US" sz="1600" b="0" i="0" u="none" strike="noStrike" cap="none" normalizeH="0" baseline="0" dirty="0">
                <a:ln>
                  <a:noFill/>
                </a:ln>
                <a:solidFill>
                  <a:srgbClr val="545D7E"/>
                </a:solidFill>
                <a:effectLst/>
                <a:latin typeface="Courier New" panose="02070309020205020404" pitchFamily="49" charset="0"/>
                <a:cs typeface="Courier New" panose="02070309020205020404" pitchFamily="49" charset="0"/>
              </a:rPr>
              <a:t>default</a:t>
            </a:r>
            <a:r>
              <a:rPr kumimoji="0" lang="en-US" altLang="en-US" sz="1600" b="0" i="0" u="none" strike="noStrike" cap="none" normalizeH="0" baseline="0" dirty="0">
                <a:ln>
                  <a:noFill/>
                </a:ln>
                <a:solidFill>
                  <a:srgbClr val="545D7E"/>
                </a:solidFill>
                <a:effectLst/>
                <a:latin typeface="Google Sans"/>
              </a:rPr>
              <a:t> or </a:t>
            </a:r>
            <a:r>
              <a:rPr kumimoji="0" lang="en-US" altLang="en-US" sz="1600" b="0" i="0" u="none" strike="noStrike" cap="none" normalizeH="0" baseline="0" dirty="0">
                <a:ln>
                  <a:noFill/>
                </a:ln>
                <a:solidFill>
                  <a:srgbClr val="545D7E"/>
                </a:solidFill>
                <a:effectLst/>
                <a:latin typeface="Courier New" panose="02070309020205020404" pitchFamily="49" charset="0"/>
                <a:cs typeface="Courier New" panose="02070309020205020404" pitchFamily="49" charset="0"/>
              </a:rPr>
              <a:t>package-private</a:t>
            </a:r>
            <a:r>
              <a:rPr kumimoji="0" lang="en-US" altLang="en-US" sz="1600" b="0" i="0" u="none" strike="noStrike" cap="none" normalizeH="0" baseline="0" dirty="0">
                <a:ln>
                  <a:noFill/>
                </a:ln>
                <a:solidFill>
                  <a:srgbClr val="545D7E"/>
                </a:solidFill>
                <a:effectLst/>
                <a:latin typeface="Google Sans"/>
              </a:rPr>
              <a:t> access. This means it is only accessible within the same package.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545D7E"/>
                </a:solidFill>
                <a:effectLst/>
                <a:latin typeface="Google Sans"/>
              </a:rPr>
              <a:t>Usage</a:t>
            </a:r>
            <a:r>
              <a:rPr kumimoji="0" lang="en-US" altLang="en-US" sz="1600" b="0" i="0" u="none" strike="noStrike" cap="none" normalizeH="0" baseline="0" dirty="0">
                <a:ln>
                  <a:noFill/>
                </a:ln>
                <a:solidFill>
                  <a:srgbClr val="545D7E"/>
                </a:solidFill>
                <a:effectLst/>
                <a:latin typeface="Google Sans"/>
              </a:rPr>
              <a:t>: Suitable for members that are only intended for use by other classes within the same logical unit (package).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47218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BAA45-83A9-B9E7-399B-406FF2CAC9E5}"/>
              </a:ext>
            </a:extLst>
          </p:cNvPr>
          <p:cNvSpPr>
            <a:spLocks noGrp="1"/>
          </p:cNvSpPr>
          <p:nvPr>
            <p:ph type="title"/>
          </p:nvPr>
        </p:nvSpPr>
        <p:spPr/>
        <p:txBody>
          <a:bodyPr/>
          <a:lstStyle/>
          <a:p>
            <a:r>
              <a:rPr lang="en-US" dirty="0"/>
              <a:t>ACCESS SPECIFIERS CONTD.</a:t>
            </a:r>
            <a:endParaRPr lang="en-IN" dirty="0"/>
          </a:p>
        </p:txBody>
      </p:sp>
      <p:pic>
        <p:nvPicPr>
          <p:cNvPr id="6" name="Content Placeholder 5">
            <a:extLst>
              <a:ext uri="{FF2B5EF4-FFF2-40B4-BE49-F238E27FC236}">
                <a16:creationId xmlns:a16="http://schemas.microsoft.com/office/drawing/2014/main" id="{5BF10ED8-C99A-8E69-49DE-7A69B56F86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1626" y="1889185"/>
            <a:ext cx="10902174" cy="3623093"/>
          </a:xfrm>
        </p:spPr>
      </p:pic>
    </p:spTree>
    <p:extLst>
      <p:ext uri="{BB962C8B-B14F-4D97-AF65-F5344CB8AC3E}">
        <p14:creationId xmlns:p14="http://schemas.microsoft.com/office/powerpoint/2010/main" val="3407969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0EE62-A705-0646-8B41-C1046944CA4E}"/>
              </a:ext>
            </a:extLst>
          </p:cNvPr>
          <p:cNvSpPr>
            <a:spLocks noGrp="1"/>
          </p:cNvSpPr>
          <p:nvPr>
            <p:ph type="title"/>
          </p:nvPr>
        </p:nvSpPr>
        <p:spPr/>
        <p:txBody>
          <a:bodyPr/>
          <a:lstStyle/>
          <a:p>
            <a:r>
              <a:rPr lang="en-US" dirty="0"/>
              <a:t>INHERITENCE</a:t>
            </a:r>
            <a:endParaRPr lang="en-IN" dirty="0"/>
          </a:p>
        </p:txBody>
      </p:sp>
      <p:sp>
        <p:nvSpPr>
          <p:cNvPr id="3" name="Content Placeholder 2">
            <a:extLst>
              <a:ext uri="{FF2B5EF4-FFF2-40B4-BE49-F238E27FC236}">
                <a16:creationId xmlns:a16="http://schemas.microsoft.com/office/drawing/2014/main" id="{F399D767-56F4-0494-3E85-DD6423C83787}"/>
              </a:ext>
            </a:extLst>
          </p:cNvPr>
          <p:cNvSpPr>
            <a:spLocks noGrp="1"/>
          </p:cNvSpPr>
          <p:nvPr>
            <p:ph idx="1"/>
          </p:nvPr>
        </p:nvSpPr>
        <p:spPr/>
        <p:txBody>
          <a:bodyPr>
            <a:normAutofit fontScale="62500" lnSpcReduction="20000"/>
          </a:bodyPr>
          <a:lstStyle/>
          <a:p>
            <a:r>
              <a:rPr lang="en-US" dirty="0"/>
              <a:t>Definition: Inheritance allows a class to inherit fields and methods from another class, promoting code reuse.</a:t>
            </a:r>
          </a:p>
          <a:p>
            <a:pPr marL="0" indent="0">
              <a:buNone/>
            </a:pPr>
            <a:r>
              <a:rPr lang="en-IN" dirty="0"/>
              <a:t>EXAMPLE</a:t>
            </a:r>
          </a:p>
          <a:p>
            <a:pPr marL="0" indent="0">
              <a:buNone/>
            </a:pPr>
            <a:r>
              <a:rPr lang="en-IN" dirty="0"/>
              <a:t>class Animal {</a:t>
            </a:r>
          </a:p>
          <a:p>
            <a:pPr marL="0" indent="0">
              <a:buNone/>
            </a:pPr>
            <a:r>
              <a:rPr lang="en-IN" dirty="0"/>
              <a:t>    void eat() {</a:t>
            </a:r>
          </a:p>
          <a:p>
            <a:pPr marL="0" indent="0">
              <a:buNone/>
            </a:pPr>
            <a:r>
              <a:rPr lang="en-IN" dirty="0"/>
              <a:t>        System.out.println("Eating");</a:t>
            </a:r>
          </a:p>
          <a:p>
            <a:pPr marL="0" indent="0">
              <a:buNone/>
            </a:pPr>
            <a:r>
              <a:rPr lang="en-IN" dirty="0"/>
              <a:t>    }</a:t>
            </a:r>
          </a:p>
          <a:p>
            <a:pPr marL="0" indent="0">
              <a:buNone/>
            </a:pPr>
            <a:r>
              <a:rPr lang="en-IN" dirty="0"/>
              <a:t>}</a:t>
            </a:r>
          </a:p>
          <a:p>
            <a:pPr marL="0" indent="0">
              <a:buNone/>
            </a:pPr>
            <a:r>
              <a:rPr lang="en-IN" dirty="0"/>
              <a:t>class Dog extends Animal {</a:t>
            </a:r>
          </a:p>
          <a:p>
            <a:pPr marL="0" indent="0">
              <a:buNone/>
            </a:pPr>
            <a:r>
              <a:rPr lang="en-IN" dirty="0"/>
              <a:t>    void bark() {</a:t>
            </a:r>
          </a:p>
          <a:p>
            <a:pPr marL="0" indent="0">
              <a:buNone/>
            </a:pPr>
            <a:r>
              <a:rPr lang="en-IN" dirty="0"/>
              <a:t>        System.out.println("Barking");</a:t>
            </a:r>
          </a:p>
          <a:p>
            <a:pPr marL="0" indent="0">
              <a:buNone/>
            </a:pPr>
            <a:r>
              <a:rPr lang="en-IN" dirty="0"/>
              <a:t>    }</a:t>
            </a:r>
          </a:p>
          <a:p>
            <a:pPr marL="0" indent="0">
              <a:buNone/>
            </a:pPr>
            <a:r>
              <a:rPr lang="en-IN" dirty="0"/>
              <a:t>}</a:t>
            </a:r>
          </a:p>
          <a:p>
            <a:pPr marL="0" indent="0">
              <a:buNone/>
            </a:pPr>
            <a:r>
              <a:rPr lang="en-IN" dirty="0"/>
              <a:t>// Dog has both eat() and bark() methods.</a:t>
            </a:r>
          </a:p>
          <a:p>
            <a:pPr marL="0" indent="0">
              <a:buNone/>
            </a:pPr>
            <a:endParaRPr lang="en-IN" dirty="0"/>
          </a:p>
        </p:txBody>
      </p:sp>
    </p:spTree>
    <p:extLst>
      <p:ext uri="{BB962C8B-B14F-4D97-AF65-F5344CB8AC3E}">
        <p14:creationId xmlns:p14="http://schemas.microsoft.com/office/powerpoint/2010/main" val="3116068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D5F80-6C0D-BF11-5F43-5BAAD525C5F7}"/>
              </a:ext>
            </a:extLst>
          </p:cNvPr>
          <p:cNvSpPr>
            <a:spLocks noGrp="1"/>
          </p:cNvSpPr>
          <p:nvPr>
            <p:ph type="title"/>
          </p:nvPr>
        </p:nvSpPr>
        <p:spPr>
          <a:xfrm>
            <a:off x="375977" y="70338"/>
            <a:ext cx="10515600" cy="1637881"/>
          </a:xfrm>
        </p:spPr>
        <p:txBody>
          <a:bodyPr>
            <a:normAutofit fontScale="90000"/>
          </a:bodyPr>
          <a:lstStyle/>
          <a:p>
            <a:r>
              <a:rPr lang="en-US" sz="2700" b="1" dirty="0"/>
              <a:t>POLYMORPHISM</a:t>
            </a:r>
            <a:r>
              <a:rPr lang="en-US" dirty="0"/>
              <a:t> :  </a:t>
            </a:r>
            <a:br>
              <a:rPr lang="en-US" dirty="0"/>
            </a:br>
            <a:r>
              <a:rPr lang="en-US" sz="3100" b="1" dirty="0"/>
              <a:t>Polymorphism means "many forms." It allows one interface to be used for different data types or classes.</a:t>
            </a:r>
            <a:br>
              <a:rPr lang="en-US" sz="3100" b="1" dirty="0"/>
            </a:br>
            <a:endParaRPr lang="en-IN" sz="2000" dirty="0"/>
          </a:p>
        </p:txBody>
      </p:sp>
      <p:sp>
        <p:nvSpPr>
          <p:cNvPr id="3" name="Content Placeholder 2">
            <a:extLst>
              <a:ext uri="{FF2B5EF4-FFF2-40B4-BE49-F238E27FC236}">
                <a16:creationId xmlns:a16="http://schemas.microsoft.com/office/drawing/2014/main" id="{2D3C5DD9-0CFD-5C55-F1E9-1BD3892E5556}"/>
              </a:ext>
            </a:extLst>
          </p:cNvPr>
          <p:cNvSpPr>
            <a:spLocks noGrp="1"/>
          </p:cNvSpPr>
          <p:nvPr>
            <p:ph idx="1"/>
          </p:nvPr>
        </p:nvSpPr>
        <p:spPr>
          <a:xfrm>
            <a:off x="838200" y="1868993"/>
            <a:ext cx="10515600" cy="4600818"/>
          </a:xfrm>
        </p:spPr>
        <p:txBody>
          <a:bodyPr>
            <a:normAutofit lnSpcReduction="10000"/>
          </a:bodyPr>
          <a:lstStyle/>
          <a:p>
            <a:endParaRPr lang="en-IN" sz="2000" dirty="0"/>
          </a:p>
          <a:p>
            <a:r>
              <a:rPr lang="en-IN" sz="2000" dirty="0"/>
              <a:t>EXAMPLE</a:t>
            </a:r>
          </a:p>
          <a:p>
            <a:pPr marL="0" indent="0">
              <a:buNone/>
            </a:pPr>
            <a:r>
              <a:rPr lang="en-IN" sz="2000" dirty="0"/>
              <a:t>class Animal {</a:t>
            </a:r>
          </a:p>
          <a:p>
            <a:pPr marL="0" indent="0">
              <a:buNone/>
            </a:pPr>
            <a:r>
              <a:rPr lang="en-IN" sz="2000" dirty="0"/>
              <a:t>    void </a:t>
            </a:r>
            <a:r>
              <a:rPr lang="en-IN" sz="2000" dirty="0" err="1"/>
              <a:t>makeSound</a:t>
            </a:r>
            <a:r>
              <a:rPr lang="en-IN" sz="2000" dirty="0"/>
              <a:t>() {</a:t>
            </a:r>
          </a:p>
          <a:p>
            <a:pPr marL="0" indent="0">
              <a:buNone/>
            </a:pPr>
            <a:r>
              <a:rPr lang="en-IN" sz="2000" dirty="0"/>
              <a:t>        System.out.println("Some sound");</a:t>
            </a:r>
          </a:p>
          <a:p>
            <a:pPr marL="0" indent="0">
              <a:buNone/>
            </a:pPr>
            <a:r>
              <a:rPr lang="en-IN" sz="2000" dirty="0"/>
              <a:t>    }</a:t>
            </a:r>
          </a:p>
          <a:p>
            <a:pPr marL="0" indent="0">
              <a:buNone/>
            </a:pPr>
            <a:r>
              <a:rPr lang="en-IN" sz="2000" dirty="0"/>
              <a:t>}</a:t>
            </a:r>
          </a:p>
          <a:p>
            <a:pPr marL="0" indent="0">
              <a:buNone/>
            </a:pPr>
            <a:r>
              <a:rPr lang="en-IN" sz="2000" dirty="0"/>
              <a:t>class Cat extends Animal {</a:t>
            </a:r>
          </a:p>
          <a:p>
            <a:pPr marL="0" indent="0">
              <a:buNone/>
            </a:pPr>
            <a:r>
              <a:rPr lang="en-IN" sz="2000" dirty="0"/>
              <a:t>    void </a:t>
            </a:r>
            <a:r>
              <a:rPr lang="en-IN" sz="2000" dirty="0" err="1"/>
              <a:t>makeSound</a:t>
            </a:r>
            <a:r>
              <a:rPr lang="en-IN" sz="2000" dirty="0"/>
              <a:t>() {</a:t>
            </a:r>
          </a:p>
          <a:p>
            <a:pPr marL="0" indent="0">
              <a:buNone/>
            </a:pPr>
            <a:r>
              <a:rPr lang="en-IN" sz="2000" dirty="0"/>
              <a:t>        System.out.println("Meow");</a:t>
            </a:r>
          </a:p>
          <a:p>
            <a:pPr marL="0" indent="0">
              <a:buNone/>
            </a:pPr>
            <a:r>
              <a:rPr lang="en-IN" sz="2000" dirty="0"/>
              <a:t>    }</a:t>
            </a:r>
          </a:p>
          <a:p>
            <a:pPr marL="0" indent="0">
              <a:buNone/>
            </a:pPr>
            <a:r>
              <a:rPr lang="en-IN" sz="2000" dirty="0"/>
              <a:t>}</a:t>
            </a:r>
          </a:p>
          <a:p>
            <a:pPr marL="0" indent="0">
              <a:buNone/>
            </a:pPr>
            <a:endParaRPr lang="en-IN" sz="2000" dirty="0"/>
          </a:p>
          <a:p>
            <a:pPr marL="0" indent="0">
              <a:buNone/>
            </a:pPr>
            <a:endParaRPr lang="en-IN" sz="2000" dirty="0"/>
          </a:p>
          <a:p>
            <a:pPr marL="0" indent="0">
              <a:buNone/>
            </a:pPr>
            <a:endParaRPr lang="en-IN" dirty="0"/>
          </a:p>
        </p:txBody>
      </p:sp>
    </p:spTree>
    <p:extLst>
      <p:ext uri="{BB962C8B-B14F-4D97-AF65-F5344CB8AC3E}">
        <p14:creationId xmlns:p14="http://schemas.microsoft.com/office/powerpoint/2010/main" val="27730711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C3330-9880-74FC-3506-EE10169E2738}"/>
              </a:ext>
            </a:extLst>
          </p:cNvPr>
          <p:cNvSpPr>
            <a:spLocks noGrp="1"/>
          </p:cNvSpPr>
          <p:nvPr>
            <p:ph type="title"/>
          </p:nvPr>
        </p:nvSpPr>
        <p:spPr/>
        <p:txBody>
          <a:bodyPr/>
          <a:lstStyle/>
          <a:p>
            <a:r>
              <a:rPr lang="en-US" dirty="0"/>
              <a:t>Polymorphism contd.</a:t>
            </a:r>
            <a:endParaRPr lang="en-IN" dirty="0"/>
          </a:p>
        </p:txBody>
      </p:sp>
      <p:sp>
        <p:nvSpPr>
          <p:cNvPr id="3" name="Content Placeholder 2">
            <a:extLst>
              <a:ext uri="{FF2B5EF4-FFF2-40B4-BE49-F238E27FC236}">
                <a16:creationId xmlns:a16="http://schemas.microsoft.com/office/drawing/2014/main" id="{6047CBFC-6B6B-6A03-9EE6-C280DA5C644A}"/>
              </a:ext>
            </a:extLst>
          </p:cNvPr>
          <p:cNvSpPr>
            <a:spLocks noGrp="1"/>
          </p:cNvSpPr>
          <p:nvPr>
            <p:ph idx="1"/>
          </p:nvPr>
        </p:nvSpPr>
        <p:spPr/>
        <p:txBody>
          <a:bodyPr>
            <a:normAutofit fontScale="92500" lnSpcReduction="20000"/>
          </a:bodyPr>
          <a:lstStyle/>
          <a:p>
            <a:pPr marL="0" indent="0">
              <a:buNone/>
            </a:pPr>
            <a:r>
              <a:rPr lang="en-IN" dirty="0"/>
              <a:t>class Dog extends Animal {</a:t>
            </a:r>
          </a:p>
          <a:p>
            <a:pPr marL="0" indent="0">
              <a:buNone/>
            </a:pPr>
            <a:r>
              <a:rPr lang="en-IN" dirty="0"/>
              <a:t>    void </a:t>
            </a:r>
            <a:r>
              <a:rPr lang="en-IN" dirty="0" err="1"/>
              <a:t>makeSound</a:t>
            </a:r>
            <a:r>
              <a:rPr lang="en-IN" dirty="0"/>
              <a:t>() {</a:t>
            </a:r>
          </a:p>
          <a:p>
            <a:pPr marL="0" indent="0">
              <a:buNone/>
            </a:pPr>
            <a:r>
              <a:rPr lang="en-IN" dirty="0"/>
              <a:t>        System.out.println("Woof");</a:t>
            </a:r>
          </a:p>
          <a:p>
            <a:pPr marL="0" indent="0">
              <a:buNone/>
            </a:pPr>
            <a:r>
              <a:rPr lang="en-IN" dirty="0"/>
              <a:t>    }</a:t>
            </a:r>
          </a:p>
          <a:p>
            <a:pPr marL="0" indent="0">
              <a:buNone/>
            </a:pPr>
            <a:r>
              <a:rPr lang="en-IN" dirty="0"/>
              <a:t>}</a:t>
            </a:r>
          </a:p>
          <a:p>
            <a:pPr marL="0" indent="0">
              <a:buNone/>
            </a:pPr>
            <a:r>
              <a:rPr lang="en-IN" dirty="0"/>
              <a:t>// Usage:</a:t>
            </a:r>
          </a:p>
          <a:p>
            <a:pPr marL="0" indent="0">
              <a:buNone/>
            </a:pPr>
            <a:r>
              <a:rPr lang="en-IN" dirty="0"/>
              <a:t>Animal a1 = new Cat();</a:t>
            </a:r>
          </a:p>
          <a:p>
            <a:pPr marL="0" indent="0">
              <a:buNone/>
            </a:pPr>
            <a:r>
              <a:rPr lang="en-IN" dirty="0"/>
              <a:t>Animal a2 = new Dog();</a:t>
            </a:r>
          </a:p>
          <a:p>
            <a:pPr marL="0" indent="0">
              <a:buNone/>
            </a:pPr>
            <a:r>
              <a:rPr lang="en-IN" dirty="0"/>
              <a:t>a1.makeSound(); // Meow</a:t>
            </a:r>
          </a:p>
          <a:p>
            <a:pPr marL="0" indent="0">
              <a:buNone/>
            </a:pPr>
            <a:r>
              <a:rPr lang="en-IN" dirty="0"/>
              <a:t>a2.makeSound(); // Woof</a:t>
            </a:r>
          </a:p>
          <a:p>
            <a:endParaRPr lang="en-IN" dirty="0"/>
          </a:p>
        </p:txBody>
      </p:sp>
    </p:spTree>
    <p:extLst>
      <p:ext uri="{BB962C8B-B14F-4D97-AF65-F5344CB8AC3E}">
        <p14:creationId xmlns:p14="http://schemas.microsoft.com/office/powerpoint/2010/main" val="4238120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846DF-0A44-0F2B-09DA-22F6773283FE}"/>
              </a:ext>
            </a:extLst>
          </p:cNvPr>
          <p:cNvSpPr>
            <a:spLocks noGrp="1"/>
          </p:cNvSpPr>
          <p:nvPr>
            <p:ph type="title"/>
          </p:nvPr>
        </p:nvSpPr>
        <p:spPr>
          <a:xfrm>
            <a:off x="838200" y="339247"/>
            <a:ext cx="10515600" cy="1325563"/>
          </a:xfrm>
        </p:spPr>
        <p:txBody>
          <a:bodyPr/>
          <a:lstStyle/>
          <a:p>
            <a:r>
              <a:rPr lang="en-US" dirty="0"/>
              <a:t>SUMMARY</a:t>
            </a:r>
            <a:endParaRPr lang="en-IN" dirty="0"/>
          </a:p>
        </p:txBody>
      </p:sp>
      <p:graphicFrame>
        <p:nvGraphicFramePr>
          <p:cNvPr id="4" name="Content Placeholder 3">
            <a:extLst>
              <a:ext uri="{FF2B5EF4-FFF2-40B4-BE49-F238E27FC236}">
                <a16:creationId xmlns:a16="http://schemas.microsoft.com/office/drawing/2014/main" id="{09A25E6D-BDEF-5E00-D18C-4DCED6FEA2F3}"/>
              </a:ext>
            </a:extLst>
          </p:cNvPr>
          <p:cNvGraphicFramePr>
            <a:graphicFrameLocks noGrp="1"/>
          </p:cNvGraphicFramePr>
          <p:nvPr>
            <p:ph idx="1"/>
            <p:extLst>
              <p:ext uri="{D42A27DB-BD31-4B8C-83A1-F6EECF244321}">
                <p14:modId xmlns:p14="http://schemas.microsoft.com/office/powerpoint/2010/main" val="1284911153"/>
              </p:ext>
            </p:extLst>
          </p:nvPr>
        </p:nvGraphicFramePr>
        <p:xfrm>
          <a:off x="1388854" y="1825624"/>
          <a:ext cx="8134710" cy="4351340"/>
        </p:xfrm>
        <a:graphic>
          <a:graphicData uri="http://schemas.openxmlformats.org/drawingml/2006/table">
            <a:tbl>
              <a:tblPr/>
              <a:tblGrid>
                <a:gridCol w="2711570">
                  <a:extLst>
                    <a:ext uri="{9D8B030D-6E8A-4147-A177-3AD203B41FA5}">
                      <a16:colId xmlns:a16="http://schemas.microsoft.com/office/drawing/2014/main" val="1657264422"/>
                    </a:ext>
                  </a:extLst>
                </a:gridCol>
                <a:gridCol w="2711570">
                  <a:extLst>
                    <a:ext uri="{9D8B030D-6E8A-4147-A177-3AD203B41FA5}">
                      <a16:colId xmlns:a16="http://schemas.microsoft.com/office/drawing/2014/main" val="2761226595"/>
                    </a:ext>
                  </a:extLst>
                </a:gridCol>
                <a:gridCol w="2711570">
                  <a:extLst>
                    <a:ext uri="{9D8B030D-6E8A-4147-A177-3AD203B41FA5}">
                      <a16:colId xmlns:a16="http://schemas.microsoft.com/office/drawing/2014/main" val="2847374342"/>
                    </a:ext>
                  </a:extLst>
                </a:gridCol>
              </a:tblGrid>
              <a:tr h="453694">
                <a:tc>
                  <a:txBody>
                    <a:bodyPr/>
                    <a:lstStyle/>
                    <a:p>
                      <a:pPr algn="l" fontAlgn="t" latinLnBrk="0"/>
                      <a:r>
                        <a:rPr lang="en-IN" sz="1200" b="0">
                          <a:effectLst/>
                        </a:rPr>
                        <a:t>Concept</a:t>
                      </a:r>
                    </a:p>
                  </a:txBody>
                  <a:tcPr marL="41245" marR="41245" marT="41245" marB="41245">
                    <a:lnL>
                      <a:noFill/>
                    </a:lnL>
                    <a:lnR>
                      <a:noFill/>
                    </a:lnR>
                    <a:lnT>
                      <a:noFill/>
                    </a:lnT>
                    <a:lnB w="12700" cap="flat" cmpd="sng" algn="ctr">
                      <a:solidFill>
                        <a:srgbClr val="A02E78"/>
                      </a:solidFill>
                      <a:prstDash val="solid"/>
                      <a:round/>
                      <a:headEnd type="none" w="med" len="med"/>
                      <a:tailEnd type="none" w="med" len="med"/>
                    </a:lnB>
                    <a:noFill/>
                  </a:tcPr>
                </a:tc>
                <a:tc>
                  <a:txBody>
                    <a:bodyPr/>
                    <a:lstStyle/>
                    <a:p>
                      <a:pPr algn="l" fontAlgn="t" latinLnBrk="0"/>
                      <a:r>
                        <a:rPr lang="en-IN" sz="1200" b="0">
                          <a:effectLst/>
                        </a:rPr>
                        <a:t>Definition</a:t>
                      </a:r>
                    </a:p>
                  </a:txBody>
                  <a:tcPr marL="41245" marR="41245" marT="41245" marB="41245">
                    <a:lnL>
                      <a:noFill/>
                    </a:lnL>
                    <a:lnR>
                      <a:noFill/>
                    </a:lnR>
                    <a:lnT>
                      <a:noFill/>
                    </a:lnT>
                    <a:lnB w="12700" cap="flat" cmpd="sng" algn="ctr">
                      <a:solidFill>
                        <a:srgbClr val="A02E78"/>
                      </a:solidFill>
                      <a:prstDash val="solid"/>
                      <a:round/>
                      <a:headEnd type="none" w="med" len="med"/>
                      <a:tailEnd type="none" w="med" len="med"/>
                    </a:lnB>
                    <a:noFill/>
                  </a:tcPr>
                </a:tc>
                <a:tc>
                  <a:txBody>
                    <a:bodyPr/>
                    <a:lstStyle/>
                    <a:p>
                      <a:pPr algn="l" fontAlgn="t" latinLnBrk="0"/>
                      <a:r>
                        <a:rPr lang="en-IN" sz="1200" b="0">
                          <a:effectLst/>
                        </a:rPr>
                        <a:t>Example (Java Code)</a:t>
                      </a:r>
                    </a:p>
                  </a:txBody>
                  <a:tcPr marL="41245" marR="41245" marT="41245" marB="41245">
                    <a:lnL>
                      <a:noFill/>
                    </a:lnL>
                    <a:lnR>
                      <a:noFill/>
                    </a:lnR>
                    <a:lnT>
                      <a:noFill/>
                    </a:lnT>
                    <a:lnB w="12700" cap="flat" cmpd="sng" algn="ctr">
                      <a:solidFill>
                        <a:srgbClr val="A02E78"/>
                      </a:solidFill>
                      <a:prstDash val="solid"/>
                      <a:round/>
                      <a:headEnd type="none" w="med" len="med"/>
                      <a:tailEnd type="none" w="med" len="med"/>
                    </a:lnB>
                    <a:noFill/>
                  </a:tcPr>
                </a:tc>
                <a:extLst>
                  <a:ext uri="{0D108BD9-81ED-4DB2-BD59-A6C34878D82A}">
                    <a16:rowId xmlns:a16="http://schemas.microsoft.com/office/drawing/2014/main" val="3226762861"/>
                  </a:ext>
                </a:extLst>
              </a:tr>
              <a:tr h="433072">
                <a:tc>
                  <a:txBody>
                    <a:bodyPr/>
                    <a:lstStyle/>
                    <a:p>
                      <a:pPr fontAlgn="base" latinLnBrk="0"/>
                      <a:r>
                        <a:rPr lang="en-IN" sz="1200">
                          <a:effectLst/>
                        </a:rPr>
                        <a:t>Class</a:t>
                      </a:r>
                    </a:p>
                  </a:txBody>
                  <a:tcPr marL="41245" marR="41245" marT="30934" marB="30934" anchor="ctr">
                    <a:lnL w="12700" cap="flat" cmpd="sng" algn="ctr">
                      <a:solidFill>
                        <a:srgbClr val="A02E78"/>
                      </a:solidFill>
                      <a:prstDash val="solid"/>
                      <a:round/>
                      <a:headEnd type="none" w="med" len="med"/>
                      <a:tailEnd type="none" w="med" len="med"/>
                    </a:lnL>
                    <a:lnR w="12700" cap="flat" cmpd="sng" algn="ctr">
                      <a:solidFill>
                        <a:srgbClr val="A02E78"/>
                      </a:solidFill>
                      <a:prstDash val="solid"/>
                      <a:round/>
                      <a:headEnd type="none" w="med" len="med"/>
                      <a:tailEnd type="none" w="med" len="med"/>
                    </a:lnR>
                    <a:lnT w="12700" cap="flat" cmpd="sng" algn="ctr">
                      <a:solidFill>
                        <a:srgbClr val="A02E78"/>
                      </a:solidFill>
                      <a:prstDash val="solid"/>
                      <a:round/>
                      <a:headEnd type="none" w="med" len="med"/>
                      <a:tailEnd type="none" w="med" len="med"/>
                    </a:lnT>
                    <a:lnB w="12700" cap="flat" cmpd="sng" algn="ctr">
                      <a:solidFill>
                        <a:srgbClr val="E03678"/>
                      </a:solidFill>
                      <a:prstDash val="solid"/>
                      <a:round/>
                      <a:headEnd type="none" w="med" len="med"/>
                      <a:tailEnd type="none" w="med" len="med"/>
                    </a:lnB>
                    <a:noFill/>
                  </a:tcPr>
                </a:tc>
                <a:tc>
                  <a:txBody>
                    <a:bodyPr/>
                    <a:lstStyle/>
                    <a:p>
                      <a:pPr fontAlgn="base" latinLnBrk="0"/>
                      <a:r>
                        <a:rPr lang="en-IN" sz="1200">
                          <a:effectLst/>
                        </a:rPr>
                        <a:t>Blueprint for objects</a:t>
                      </a:r>
                    </a:p>
                  </a:txBody>
                  <a:tcPr marL="41245" marR="41245" marT="30934" marB="30934" anchor="ctr">
                    <a:lnL w="12700" cap="flat" cmpd="sng" algn="ctr">
                      <a:solidFill>
                        <a:srgbClr val="A02E78"/>
                      </a:solidFill>
                      <a:prstDash val="solid"/>
                      <a:round/>
                      <a:headEnd type="none" w="med" len="med"/>
                      <a:tailEnd type="none" w="med" len="med"/>
                    </a:lnL>
                    <a:lnR w="12700" cap="flat" cmpd="sng" algn="ctr">
                      <a:solidFill>
                        <a:srgbClr val="A02E78"/>
                      </a:solidFill>
                      <a:prstDash val="solid"/>
                      <a:round/>
                      <a:headEnd type="none" w="med" len="med"/>
                      <a:tailEnd type="none" w="med" len="med"/>
                    </a:lnR>
                    <a:lnT w="12700" cap="flat" cmpd="sng" algn="ctr">
                      <a:solidFill>
                        <a:srgbClr val="A02E78"/>
                      </a:solidFill>
                      <a:prstDash val="solid"/>
                      <a:round/>
                      <a:headEnd type="none" w="med" len="med"/>
                      <a:tailEnd type="none" w="med" len="med"/>
                    </a:lnT>
                    <a:lnB w="12700" cap="flat" cmpd="sng" algn="ctr">
                      <a:solidFill>
                        <a:srgbClr val="E03678"/>
                      </a:solidFill>
                      <a:prstDash val="solid"/>
                      <a:round/>
                      <a:headEnd type="none" w="med" len="med"/>
                      <a:tailEnd type="none" w="med" len="med"/>
                    </a:lnB>
                    <a:noFill/>
                  </a:tcPr>
                </a:tc>
                <a:tc>
                  <a:txBody>
                    <a:bodyPr/>
                    <a:lstStyle/>
                    <a:p>
                      <a:pPr fontAlgn="base" latinLnBrk="0"/>
                      <a:r>
                        <a:rPr lang="en-IN" sz="1200">
                          <a:effectLst/>
                        </a:rPr>
                        <a:t>public class Car { ... }</a:t>
                      </a:r>
                    </a:p>
                  </a:txBody>
                  <a:tcPr marL="41245" marR="41245" marT="30934" marB="30934" anchor="ctr">
                    <a:lnL w="12700" cap="flat" cmpd="sng" algn="ctr">
                      <a:solidFill>
                        <a:srgbClr val="A02E78"/>
                      </a:solidFill>
                      <a:prstDash val="solid"/>
                      <a:round/>
                      <a:headEnd type="none" w="med" len="med"/>
                      <a:tailEnd type="none" w="med" len="med"/>
                    </a:lnL>
                    <a:lnR w="12700" cap="flat" cmpd="sng" algn="ctr">
                      <a:solidFill>
                        <a:srgbClr val="A02E78"/>
                      </a:solidFill>
                      <a:prstDash val="solid"/>
                      <a:round/>
                      <a:headEnd type="none" w="med" len="med"/>
                      <a:tailEnd type="none" w="med" len="med"/>
                    </a:lnR>
                    <a:lnT w="12700" cap="flat" cmpd="sng" algn="ctr">
                      <a:solidFill>
                        <a:srgbClr val="A02E78"/>
                      </a:solidFill>
                      <a:prstDash val="solid"/>
                      <a:round/>
                      <a:headEnd type="none" w="med" len="med"/>
                      <a:tailEnd type="none" w="med" len="med"/>
                    </a:lnT>
                    <a:lnB w="12700" cap="flat" cmpd="sng" algn="ctr">
                      <a:solidFill>
                        <a:srgbClr val="E03678"/>
                      </a:solidFill>
                      <a:prstDash val="solid"/>
                      <a:round/>
                      <a:headEnd type="none" w="med" len="med"/>
                      <a:tailEnd type="none" w="med" len="med"/>
                    </a:lnB>
                    <a:noFill/>
                  </a:tcPr>
                </a:tc>
                <a:extLst>
                  <a:ext uri="{0D108BD9-81ED-4DB2-BD59-A6C34878D82A}">
                    <a16:rowId xmlns:a16="http://schemas.microsoft.com/office/drawing/2014/main" val="1772657179"/>
                  </a:ext>
                </a:extLst>
              </a:tr>
              <a:tr h="433072">
                <a:tc>
                  <a:txBody>
                    <a:bodyPr/>
                    <a:lstStyle/>
                    <a:p>
                      <a:pPr fontAlgn="base" latinLnBrk="0"/>
                      <a:r>
                        <a:rPr lang="en-IN" sz="1200" dirty="0">
                          <a:effectLst/>
                        </a:rPr>
                        <a:t>Object</a:t>
                      </a:r>
                    </a:p>
                  </a:txBody>
                  <a:tcPr marL="41245" marR="41245" marT="30934" marB="30934" anchor="ctr">
                    <a:lnL w="12700" cap="flat" cmpd="sng" algn="ctr">
                      <a:solidFill>
                        <a:srgbClr val="E03678"/>
                      </a:solidFill>
                      <a:prstDash val="solid"/>
                      <a:round/>
                      <a:headEnd type="none" w="med" len="med"/>
                      <a:tailEnd type="none" w="med" len="med"/>
                    </a:lnL>
                    <a:lnR w="12700" cap="flat" cmpd="sng" algn="ctr">
                      <a:solidFill>
                        <a:srgbClr val="E03678"/>
                      </a:solidFill>
                      <a:prstDash val="solid"/>
                      <a:round/>
                      <a:headEnd type="none" w="med" len="med"/>
                      <a:tailEnd type="none" w="med" len="med"/>
                    </a:lnR>
                    <a:lnT w="12700" cap="flat" cmpd="sng" algn="ctr">
                      <a:solidFill>
                        <a:srgbClr val="E03678"/>
                      </a:solidFill>
                      <a:prstDash val="solid"/>
                      <a:round/>
                      <a:headEnd type="none" w="med" len="med"/>
                      <a:tailEnd type="none" w="med" len="med"/>
                    </a:lnT>
                    <a:lnB w="12700" cap="flat" cmpd="sng" algn="ctr">
                      <a:solidFill>
                        <a:srgbClr val="203F78"/>
                      </a:solidFill>
                      <a:prstDash val="solid"/>
                      <a:round/>
                      <a:headEnd type="none" w="med" len="med"/>
                      <a:tailEnd type="none" w="med" len="med"/>
                    </a:lnB>
                    <a:noFill/>
                  </a:tcPr>
                </a:tc>
                <a:tc>
                  <a:txBody>
                    <a:bodyPr/>
                    <a:lstStyle/>
                    <a:p>
                      <a:pPr fontAlgn="base" latinLnBrk="0"/>
                      <a:r>
                        <a:rPr lang="en-IN" sz="1200">
                          <a:effectLst/>
                        </a:rPr>
                        <a:t>Instance of a class</a:t>
                      </a:r>
                    </a:p>
                  </a:txBody>
                  <a:tcPr marL="41245" marR="41245" marT="30934" marB="30934" anchor="ctr">
                    <a:lnL w="12700" cap="flat" cmpd="sng" algn="ctr">
                      <a:solidFill>
                        <a:srgbClr val="E03678"/>
                      </a:solidFill>
                      <a:prstDash val="solid"/>
                      <a:round/>
                      <a:headEnd type="none" w="med" len="med"/>
                      <a:tailEnd type="none" w="med" len="med"/>
                    </a:lnL>
                    <a:lnR w="12700" cap="flat" cmpd="sng" algn="ctr">
                      <a:solidFill>
                        <a:srgbClr val="E03678"/>
                      </a:solidFill>
                      <a:prstDash val="solid"/>
                      <a:round/>
                      <a:headEnd type="none" w="med" len="med"/>
                      <a:tailEnd type="none" w="med" len="med"/>
                    </a:lnR>
                    <a:lnT w="12700" cap="flat" cmpd="sng" algn="ctr">
                      <a:solidFill>
                        <a:srgbClr val="E03678"/>
                      </a:solidFill>
                      <a:prstDash val="solid"/>
                      <a:round/>
                      <a:headEnd type="none" w="med" len="med"/>
                      <a:tailEnd type="none" w="med" len="med"/>
                    </a:lnT>
                    <a:lnB w="12700" cap="flat" cmpd="sng" algn="ctr">
                      <a:solidFill>
                        <a:srgbClr val="203F78"/>
                      </a:solidFill>
                      <a:prstDash val="solid"/>
                      <a:round/>
                      <a:headEnd type="none" w="med" len="med"/>
                      <a:tailEnd type="none" w="med" len="med"/>
                    </a:lnB>
                    <a:noFill/>
                  </a:tcPr>
                </a:tc>
                <a:tc>
                  <a:txBody>
                    <a:bodyPr/>
                    <a:lstStyle/>
                    <a:p>
                      <a:pPr fontAlgn="base" latinLnBrk="0"/>
                      <a:r>
                        <a:rPr lang="en-IN" sz="1200">
                          <a:effectLst/>
                        </a:rPr>
                        <a:t>Car myCar = new Car();</a:t>
                      </a:r>
                    </a:p>
                  </a:txBody>
                  <a:tcPr marL="41245" marR="41245" marT="30934" marB="30934" anchor="ctr">
                    <a:lnL w="12700" cap="flat" cmpd="sng" algn="ctr">
                      <a:solidFill>
                        <a:srgbClr val="E03678"/>
                      </a:solidFill>
                      <a:prstDash val="solid"/>
                      <a:round/>
                      <a:headEnd type="none" w="med" len="med"/>
                      <a:tailEnd type="none" w="med" len="med"/>
                    </a:lnL>
                    <a:lnR w="12700" cap="flat" cmpd="sng" algn="ctr">
                      <a:solidFill>
                        <a:srgbClr val="E03678"/>
                      </a:solidFill>
                      <a:prstDash val="solid"/>
                      <a:round/>
                      <a:headEnd type="none" w="med" len="med"/>
                      <a:tailEnd type="none" w="med" len="med"/>
                    </a:lnR>
                    <a:lnT w="12700" cap="flat" cmpd="sng" algn="ctr">
                      <a:solidFill>
                        <a:srgbClr val="E03678"/>
                      </a:solidFill>
                      <a:prstDash val="solid"/>
                      <a:round/>
                      <a:headEnd type="none" w="med" len="med"/>
                      <a:tailEnd type="none" w="med" len="med"/>
                    </a:lnT>
                    <a:lnB w="12700" cap="flat" cmpd="sng" algn="ctr">
                      <a:solidFill>
                        <a:srgbClr val="203F78"/>
                      </a:solidFill>
                      <a:prstDash val="solid"/>
                      <a:round/>
                      <a:headEnd type="none" w="med" len="med"/>
                      <a:tailEnd type="none" w="med" len="med"/>
                    </a:lnB>
                    <a:noFill/>
                  </a:tcPr>
                </a:tc>
                <a:extLst>
                  <a:ext uri="{0D108BD9-81ED-4DB2-BD59-A6C34878D82A}">
                    <a16:rowId xmlns:a16="http://schemas.microsoft.com/office/drawing/2014/main" val="3853358067"/>
                  </a:ext>
                </a:extLst>
              </a:tr>
              <a:tr h="804276">
                <a:tc>
                  <a:txBody>
                    <a:bodyPr/>
                    <a:lstStyle/>
                    <a:p>
                      <a:pPr fontAlgn="base" latinLnBrk="0"/>
                      <a:r>
                        <a:rPr lang="en-IN" sz="1200">
                          <a:effectLst/>
                        </a:rPr>
                        <a:t>Abstraction</a:t>
                      </a:r>
                    </a:p>
                  </a:txBody>
                  <a:tcPr marL="41245" marR="41245" marT="30934" marB="30934" anchor="ctr">
                    <a:lnL w="12700" cap="flat" cmpd="sng" algn="ctr">
                      <a:solidFill>
                        <a:srgbClr val="203F78"/>
                      </a:solidFill>
                      <a:prstDash val="solid"/>
                      <a:round/>
                      <a:headEnd type="none" w="med" len="med"/>
                      <a:tailEnd type="none" w="med" len="med"/>
                    </a:lnL>
                    <a:lnR w="12700" cap="flat" cmpd="sng" algn="ctr">
                      <a:solidFill>
                        <a:srgbClr val="203F78"/>
                      </a:solidFill>
                      <a:prstDash val="solid"/>
                      <a:round/>
                      <a:headEnd type="none" w="med" len="med"/>
                      <a:tailEnd type="none" w="med" len="med"/>
                    </a:lnR>
                    <a:lnT w="12700" cap="flat" cmpd="sng" algn="ctr">
                      <a:solidFill>
                        <a:srgbClr val="203F78"/>
                      </a:solidFill>
                      <a:prstDash val="solid"/>
                      <a:round/>
                      <a:headEnd type="none" w="med" len="med"/>
                      <a:tailEnd type="none" w="med" len="med"/>
                    </a:lnT>
                    <a:lnB w="12700" cap="flat" cmpd="sng" algn="ctr">
                      <a:solidFill>
                        <a:srgbClr val="A03678"/>
                      </a:solidFill>
                      <a:prstDash val="solid"/>
                      <a:round/>
                      <a:headEnd type="none" w="med" len="med"/>
                      <a:tailEnd type="none" w="med" len="med"/>
                    </a:lnB>
                    <a:noFill/>
                  </a:tcPr>
                </a:tc>
                <a:tc>
                  <a:txBody>
                    <a:bodyPr/>
                    <a:lstStyle/>
                    <a:p>
                      <a:pPr fontAlgn="base" latinLnBrk="0"/>
                      <a:r>
                        <a:rPr lang="en-IN" sz="1200">
                          <a:effectLst/>
                        </a:rPr>
                        <a:t>Hides complexity, shows essentials</a:t>
                      </a:r>
                    </a:p>
                  </a:txBody>
                  <a:tcPr marL="41245" marR="41245" marT="30934" marB="30934" anchor="ctr">
                    <a:lnL w="12700" cap="flat" cmpd="sng" algn="ctr">
                      <a:solidFill>
                        <a:srgbClr val="203F78"/>
                      </a:solidFill>
                      <a:prstDash val="solid"/>
                      <a:round/>
                      <a:headEnd type="none" w="med" len="med"/>
                      <a:tailEnd type="none" w="med" len="med"/>
                    </a:lnL>
                    <a:lnR w="12700" cap="flat" cmpd="sng" algn="ctr">
                      <a:solidFill>
                        <a:srgbClr val="203F78"/>
                      </a:solidFill>
                      <a:prstDash val="solid"/>
                      <a:round/>
                      <a:headEnd type="none" w="med" len="med"/>
                      <a:tailEnd type="none" w="med" len="med"/>
                    </a:lnR>
                    <a:lnT w="12700" cap="flat" cmpd="sng" algn="ctr">
                      <a:solidFill>
                        <a:srgbClr val="203F78"/>
                      </a:solidFill>
                      <a:prstDash val="solid"/>
                      <a:round/>
                      <a:headEnd type="none" w="med" len="med"/>
                      <a:tailEnd type="none" w="med" len="med"/>
                    </a:lnT>
                    <a:lnB w="12700" cap="flat" cmpd="sng" algn="ctr">
                      <a:solidFill>
                        <a:srgbClr val="A03678"/>
                      </a:solidFill>
                      <a:prstDash val="solid"/>
                      <a:round/>
                      <a:headEnd type="none" w="med" len="med"/>
                      <a:tailEnd type="none" w="med" len="med"/>
                    </a:lnB>
                    <a:noFill/>
                  </a:tcPr>
                </a:tc>
                <a:tc>
                  <a:txBody>
                    <a:bodyPr/>
                    <a:lstStyle/>
                    <a:p>
                      <a:pPr fontAlgn="base" latinLnBrk="0"/>
                      <a:r>
                        <a:rPr lang="en-US" sz="1200">
                          <a:effectLst/>
                        </a:rPr>
                        <a:t>abstract class Animal { abstract void makeSound(); }</a:t>
                      </a:r>
                    </a:p>
                  </a:txBody>
                  <a:tcPr marL="41245" marR="41245" marT="30934" marB="30934" anchor="ctr">
                    <a:lnL w="12700" cap="flat" cmpd="sng" algn="ctr">
                      <a:solidFill>
                        <a:srgbClr val="203F78"/>
                      </a:solidFill>
                      <a:prstDash val="solid"/>
                      <a:round/>
                      <a:headEnd type="none" w="med" len="med"/>
                      <a:tailEnd type="none" w="med" len="med"/>
                    </a:lnL>
                    <a:lnR w="12700" cap="flat" cmpd="sng" algn="ctr">
                      <a:solidFill>
                        <a:srgbClr val="203F78"/>
                      </a:solidFill>
                      <a:prstDash val="solid"/>
                      <a:round/>
                      <a:headEnd type="none" w="med" len="med"/>
                      <a:tailEnd type="none" w="med" len="med"/>
                    </a:lnR>
                    <a:lnT w="12700" cap="flat" cmpd="sng" algn="ctr">
                      <a:solidFill>
                        <a:srgbClr val="203F78"/>
                      </a:solidFill>
                      <a:prstDash val="solid"/>
                      <a:round/>
                      <a:headEnd type="none" w="med" len="med"/>
                      <a:tailEnd type="none" w="med" len="med"/>
                    </a:lnT>
                    <a:lnB w="12700" cap="flat" cmpd="sng" algn="ctr">
                      <a:solidFill>
                        <a:srgbClr val="A03678"/>
                      </a:solidFill>
                      <a:prstDash val="solid"/>
                      <a:round/>
                      <a:headEnd type="none" w="med" len="med"/>
                      <a:tailEnd type="none" w="med" len="med"/>
                    </a:lnB>
                    <a:noFill/>
                  </a:tcPr>
                </a:tc>
                <a:extLst>
                  <a:ext uri="{0D108BD9-81ED-4DB2-BD59-A6C34878D82A}">
                    <a16:rowId xmlns:a16="http://schemas.microsoft.com/office/drawing/2014/main" val="656974866"/>
                  </a:ext>
                </a:extLst>
              </a:tr>
              <a:tr h="804276">
                <a:tc>
                  <a:txBody>
                    <a:bodyPr/>
                    <a:lstStyle/>
                    <a:p>
                      <a:pPr fontAlgn="base" latinLnBrk="0"/>
                      <a:r>
                        <a:rPr lang="en-IN" sz="1200">
                          <a:effectLst/>
                        </a:rPr>
                        <a:t>Encapsulation</a:t>
                      </a:r>
                    </a:p>
                  </a:txBody>
                  <a:tcPr marL="41245" marR="41245" marT="30934" marB="30934" anchor="ctr">
                    <a:lnL w="12700" cap="flat" cmpd="sng" algn="ctr">
                      <a:solidFill>
                        <a:srgbClr val="A03678"/>
                      </a:solidFill>
                      <a:prstDash val="solid"/>
                      <a:round/>
                      <a:headEnd type="none" w="med" len="med"/>
                      <a:tailEnd type="none" w="med" len="med"/>
                    </a:lnL>
                    <a:lnR w="12700" cap="flat" cmpd="sng" algn="ctr">
                      <a:solidFill>
                        <a:srgbClr val="A03678"/>
                      </a:solidFill>
                      <a:prstDash val="solid"/>
                      <a:round/>
                      <a:headEnd type="none" w="med" len="med"/>
                      <a:tailEnd type="none" w="med" len="med"/>
                    </a:lnR>
                    <a:lnT w="12700" cap="flat" cmpd="sng" algn="ctr">
                      <a:solidFill>
                        <a:srgbClr val="A03678"/>
                      </a:solidFill>
                      <a:prstDash val="solid"/>
                      <a:round/>
                      <a:headEnd type="none" w="med" len="med"/>
                      <a:tailEnd type="none" w="med" len="med"/>
                    </a:lnT>
                    <a:lnB w="12700" cap="flat" cmpd="sng" algn="ctr">
                      <a:solidFill>
                        <a:srgbClr val="203878"/>
                      </a:solidFill>
                      <a:prstDash val="solid"/>
                      <a:round/>
                      <a:headEnd type="none" w="med" len="med"/>
                      <a:tailEnd type="none" w="med" len="med"/>
                    </a:lnB>
                    <a:noFill/>
                  </a:tcPr>
                </a:tc>
                <a:tc>
                  <a:txBody>
                    <a:bodyPr/>
                    <a:lstStyle/>
                    <a:p>
                      <a:pPr fontAlgn="base" latinLnBrk="0"/>
                      <a:r>
                        <a:rPr lang="en-US" sz="1200">
                          <a:effectLst/>
                        </a:rPr>
                        <a:t>Bundles data and methods, restricts access</a:t>
                      </a:r>
                    </a:p>
                  </a:txBody>
                  <a:tcPr marL="41245" marR="41245" marT="30934" marB="30934" anchor="ctr">
                    <a:lnL w="12700" cap="flat" cmpd="sng" algn="ctr">
                      <a:solidFill>
                        <a:srgbClr val="A03678"/>
                      </a:solidFill>
                      <a:prstDash val="solid"/>
                      <a:round/>
                      <a:headEnd type="none" w="med" len="med"/>
                      <a:tailEnd type="none" w="med" len="med"/>
                    </a:lnL>
                    <a:lnR w="12700" cap="flat" cmpd="sng" algn="ctr">
                      <a:solidFill>
                        <a:srgbClr val="A03678"/>
                      </a:solidFill>
                      <a:prstDash val="solid"/>
                      <a:round/>
                      <a:headEnd type="none" w="med" len="med"/>
                      <a:tailEnd type="none" w="med" len="med"/>
                    </a:lnR>
                    <a:lnT w="12700" cap="flat" cmpd="sng" algn="ctr">
                      <a:solidFill>
                        <a:srgbClr val="A03678"/>
                      </a:solidFill>
                      <a:prstDash val="solid"/>
                      <a:round/>
                      <a:headEnd type="none" w="med" len="med"/>
                      <a:tailEnd type="none" w="med" len="med"/>
                    </a:lnT>
                    <a:lnB w="12700" cap="flat" cmpd="sng" algn="ctr">
                      <a:solidFill>
                        <a:srgbClr val="203878"/>
                      </a:solidFill>
                      <a:prstDash val="solid"/>
                      <a:round/>
                      <a:headEnd type="none" w="med" len="med"/>
                      <a:tailEnd type="none" w="med" len="med"/>
                    </a:lnB>
                    <a:noFill/>
                  </a:tcPr>
                </a:tc>
                <a:tc>
                  <a:txBody>
                    <a:bodyPr/>
                    <a:lstStyle/>
                    <a:p>
                      <a:pPr fontAlgn="base" latinLnBrk="0"/>
                      <a:r>
                        <a:rPr lang="fr-FR" sz="1200">
                          <a:effectLst/>
                        </a:rPr>
                        <a:t>private double balance; public void deposit(...) {...}</a:t>
                      </a:r>
                    </a:p>
                  </a:txBody>
                  <a:tcPr marL="41245" marR="41245" marT="30934" marB="30934" anchor="ctr">
                    <a:lnL w="12700" cap="flat" cmpd="sng" algn="ctr">
                      <a:solidFill>
                        <a:srgbClr val="A03678"/>
                      </a:solidFill>
                      <a:prstDash val="solid"/>
                      <a:round/>
                      <a:headEnd type="none" w="med" len="med"/>
                      <a:tailEnd type="none" w="med" len="med"/>
                    </a:lnL>
                    <a:lnR w="12700" cap="flat" cmpd="sng" algn="ctr">
                      <a:solidFill>
                        <a:srgbClr val="A03678"/>
                      </a:solidFill>
                      <a:prstDash val="solid"/>
                      <a:round/>
                      <a:headEnd type="none" w="med" len="med"/>
                      <a:tailEnd type="none" w="med" len="med"/>
                    </a:lnR>
                    <a:lnT w="12700" cap="flat" cmpd="sng" algn="ctr">
                      <a:solidFill>
                        <a:srgbClr val="A03678"/>
                      </a:solidFill>
                      <a:prstDash val="solid"/>
                      <a:round/>
                      <a:headEnd type="none" w="med" len="med"/>
                      <a:tailEnd type="none" w="med" len="med"/>
                    </a:lnT>
                    <a:lnB w="12700" cap="flat" cmpd="sng" algn="ctr">
                      <a:solidFill>
                        <a:srgbClr val="203878"/>
                      </a:solidFill>
                      <a:prstDash val="solid"/>
                      <a:round/>
                      <a:headEnd type="none" w="med" len="med"/>
                      <a:tailEnd type="none" w="med" len="med"/>
                    </a:lnB>
                    <a:noFill/>
                  </a:tcPr>
                </a:tc>
                <a:extLst>
                  <a:ext uri="{0D108BD9-81ED-4DB2-BD59-A6C34878D82A}">
                    <a16:rowId xmlns:a16="http://schemas.microsoft.com/office/drawing/2014/main" val="2532708225"/>
                  </a:ext>
                </a:extLst>
              </a:tr>
              <a:tr h="618674">
                <a:tc>
                  <a:txBody>
                    <a:bodyPr/>
                    <a:lstStyle/>
                    <a:p>
                      <a:pPr fontAlgn="base" latinLnBrk="0"/>
                      <a:r>
                        <a:rPr lang="en-IN" sz="1200">
                          <a:effectLst/>
                        </a:rPr>
                        <a:t>Inheritance</a:t>
                      </a:r>
                    </a:p>
                  </a:txBody>
                  <a:tcPr marL="41245" marR="41245" marT="30934" marB="30934" anchor="ctr">
                    <a:lnL w="12700" cap="flat" cmpd="sng" algn="ctr">
                      <a:solidFill>
                        <a:srgbClr val="203878"/>
                      </a:solidFill>
                      <a:prstDash val="solid"/>
                      <a:round/>
                      <a:headEnd type="none" w="med" len="med"/>
                      <a:tailEnd type="none" w="med" len="med"/>
                    </a:lnL>
                    <a:lnR w="12700" cap="flat" cmpd="sng" algn="ctr">
                      <a:solidFill>
                        <a:srgbClr val="203878"/>
                      </a:solidFill>
                      <a:prstDash val="solid"/>
                      <a:round/>
                      <a:headEnd type="none" w="med" len="med"/>
                      <a:tailEnd type="none" w="med" len="med"/>
                    </a:lnR>
                    <a:lnT w="12700" cap="flat" cmpd="sng" algn="ctr">
                      <a:solidFill>
                        <a:srgbClr val="203878"/>
                      </a:solidFill>
                      <a:prstDash val="solid"/>
                      <a:round/>
                      <a:headEnd type="none" w="med" len="med"/>
                      <a:tailEnd type="none" w="med" len="med"/>
                    </a:lnT>
                    <a:lnB w="12700" cap="flat" cmpd="sng" algn="ctr">
                      <a:solidFill>
                        <a:srgbClr val="604378"/>
                      </a:solidFill>
                      <a:prstDash val="solid"/>
                      <a:round/>
                      <a:headEnd type="none" w="med" len="med"/>
                      <a:tailEnd type="none" w="med" len="med"/>
                    </a:lnB>
                    <a:noFill/>
                  </a:tcPr>
                </a:tc>
                <a:tc>
                  <a:txBody>
                    <a:bodyPr/>
                    <a:lstStyle/>
                    <a:p>
                      <a:pPr fontAlgn="base" latinLnBrk="0"/>
                      <a:r>
                        <a:rPr lang="en-US" sz="1200">
                          <a:effectLst/>
                        </a:rPr>
                        <a:t>Acquires properties from another class</a:t>
                      </a:r>
                    </a:p>
                  </a:txBody>
                  <a:tcPr marL="41245" marR="41245" marT="30934" marB="30934" anchor="ctr">
                    <a:lnL w="12700" cap="flat" cmpd="sng" algn="ctr">
                      <a:solidFill>
                        <a:srgbClr val="203878"/>
                      </a:solidFill>
                      <a:prstDash val="solid"/>
                      <a:round/>
                      <a:headEnd type="none" w="med" len="med"/>
                      <a:tailEnd type="none" w="med" len="med"/>
                    </a:lnL>
                    <a:lnR w="12700" cap="flat" cmpd="sng" algn="ctr">
                      <a:solidFill>
                        <a:srgbClr val="203878"/>
                      </a:solidFill>
                      <a:prstDash val="solid"/>
                      <a:round/>
                      <a:headEnd type="none" w="med" len="med"/>
                      <a:tailEnd type="none" w="med" len="med"/>
                    </a:lnR>
                    <a:lnT w="12700" cap="flat" cmpd="sng" algn="ctr">
                      <a:solidFill>
                        <a:srgbClr val="203878"/>
                      </a:solidFill>
                      <a:prstDash val="solid"/>
                      <a:round/>
                      <a:headEnd type="none" w="med" len="med"/>
                      <a:tailEnd type="none" w="med" len="med"/>
                    </a:lnT>
                    <a:lnB w="12700" cap="flat" cmpd="sng" algn="ctr">
                      <a:solidFill>
                        <a:srgbClr val="604378"/>
                      </a:solidFill>
                      <a:prstDash val="solid"/>
                      <a:round/>
                      <a:headEnd type="none" w="med" len="med"/>
                      <a:tailEnd type="none" w="med" len="med"/>
                    </a:lnB>
                    <a:noFill/>
                  </a:tcPr>
                </a:tc>
                <a:tc>
                  <a:txBody>
                    <a:bodyPr/>
                    <a:lstStyle/>
                    <a:p>
                      <a:pPr fontAlgn="base" latinLnBrk="0"/>
                      <a:r>
                        <a:rPr lang="en-IN" sz="1200">
                          <a:effectLst/>
                        </a:rPr>
                        <a:t>class Dog extends Animal { ... }</a:t>
                      </a:r>
                    </a:p>
                  </a:txBody>
                  <a:tcPr marL="41245" marR="41245" marT="30934" marB="30934" anchor="ctr">
                    <a:lnL w="12700" cap="flat" cmpd="sng" algn="ctr">
                      <a:solidFill>
                        <a:srgbClr val="203878"/>
                      </a:solidFill>
                      <a:prstDash val="solid"/>
                      <a:round/>
                      <a:headEnd type="none" w="med" len="med"/>
                      <a:tailEnd type="none" w="med" len="med"/>
                    </a:lnL>
                    <a:lnR w="12700" cap="flat" cmpd="sng" algn="ctr">
                      <a:solidFill>
                        <a:srgbClr val="203878"/>
                      </a:solidFill>
                      <a:prstDash val="solid"/>
                      <a:round/>
                      <a:headEnd type="none" w="med" len="med"/>
                      <a:tailEnd type="none" w="med" len="med"/>
                    </a:lnR>
                    <a:lnT w="12700" cap="flat" cmpd="sng" algn="ctr">
                      <a:solidFill>
                        <a:srgbClr val="203878"/>
                      </a:solidFill>
                      <a:prstDash val="solid"/>
                      <a:round/>
                      <a:headEnd type="none" w="med" len="med"/>
                      <a:tailEnd type="none" w="med" len="med"/>
                    </a:lnT>
                    <a:lnB w="12700" cap="flat" cmpd="sng" algn="ctr">
                      <a:solidFill>
                        <a:srgbClr val="604378"/>
                      </a:solidFill>
                      <a:prstDash val="solid"/>
                      <a:round/>
                      <a:headEnd type="none" w="med" len="med"/>
                      <a:tailEnd type="none" w="med" len="med"/>
                    </a:lnB>
                    <a:noFill/>
                  </a:tcPr>
                </a:tc>
                <a:extLst>
                  <a:ext uri="{0D108BD9-81ED-4DB2-BD59-A6C34878D82A}">
                    <a16:rowId xmlns:a16="http://schemas.microsoft.com/office/drawing/2014/main" val="2767125131"/>
                  </a:ext>
                </a:extLst>
              </a:tr>
              <a:tr h="804276">
                <a:tc>
                  <a:txBody>
                    <a:bodyPr/>
                    <a:lstStyle/>
                    <a:p>
                      <a:pPr fontAlgn="base" latinLnBrk="0"/>
                      <a:r>
                        <a:rPr lang="en-IN" sz="1200">
                          <a:effectLst/>
                        </a:rPr>
                        <a:t>Polymorphism</a:t>
                      </a:r>
                    </a:p>
                  </a:txBody>
                  <a:tcPr marL="41245" marR="41245" marT="30934" marB="30934" anchor="ctr">
                    <a:lnL w="12700" cap="flat" cmpd="sng" algn="ctr">
                      <a:solidFill>
                        <a:srgbClr val="604378"/>
                      </a:solidFill>
                      <a:prstDash val="solid"/>
                      <a:round/>
                      <a:headEnd type="none" w="med" len="med"/>
                      <a:tailEnd type="none" w="med" len="med"/>
                    </a:lnL>
                    <a:lnR w="12700" cap="flat" cmpd="sng" algn="ctr">
                      <a:solidFill>
                        <a:srgbClr val="604378"/>
                      </a:solidFill>
                      <a:prstDash val="solid"/>
                      <a:round/>
                      <a:headEnd type="none" w="med" len="med"/>
                      <a:tailEnd type="none" w="med" len="med"/>
                    </a:lnR>
                    <a:lnT w="12700" cap="flat" cmpd="sng" algn="ctr">
                      <a:solidFill>
                        <a:srgbClr val="604378"/>
                      </a:solidFill>
                      <a:prstDash val="solid"/>
                      <a:round/>
                      <a:headEnd type="none" w="med" len="med"/>
                      <a:tailEnd type="none" w="med" len="med"/>
                    </a:lnT>
                    <a:lnB w="12700" cap="flat" cmpd="sng" algn="ctr">
                      <a:solidFill>
                        <a:srgbClr val="604378"/>
                      </a:solidFill>
                      <a:prstDash val="solid"/>
                      <a:round/>
                      <a:headEnd type="none" w="med" len="med"/>
                      <a:tailEnd type="none" w="med" len="med"/>
                    </a:lnB>
                    <a:noFill/>
                  </a:tcPr>
                </a:tc>
                <a:tc>
                  <a:txBody>
                    <a:bodyPr/>
                    <a:lstStyle/>
                    <a:p>
                      <a:pPr fontAlgn="base" latinLnBrk="0"/>
                      <a:r>
                        <a:rPr lang="en-IN" sz="1200">
                          <a:effectLst/>
                        </a:rPr>
                        <a:t>One interface, many forms</a:t>
                      </a:r>
                    </a:p>
                  </a:txBody>
                  <a:tcPr marL="41245" marR="41245" marT="30934" marB="30934" anchor="ctr">
                    <a:lnL w="12700" cap="flat" cmpd="sng" algn="ctr">
                      <a:solidFill>
                        <a:srgbClr val="604378"/>
                      </a:solidFill>
                      <a:prstDash val="solid"/>
                      <a:round/>
                      <a:headEnd type="none" w="med" len="med"/>
                      <a:tailEnd type="none" w="med" len="med"/>
                    </a:lnL>
                    <a:lnR w="12700" cap="flat" cmpd="sng" algn="ctr">
                      <a:solidFill>
                        <a:srgbClr val="604378"/>
                      </a:solidFill>
                      <a:prstDash val="solid"/>
                      <a:round/>
                      <a:headEnd type="none" w="med" len="med"/>
                      <a:tailEnd type="none" w="med" len="med"/>
                    </a:lnR>
                    <a:lnT w="12700" cap="flat" cmpd="sng" algn="ctr">
                      <a:solidFill>
                        <a:srgbClr val="604378"/>
                      </a:solidFill>
                      <a:prstDash val="solid"/>
                      <a:round/>
                      <a:headEnd type="none" w="med" len="med"/>
                      <a:tailEnd type="none" w="med" len="med"/>
                    </a:lnT>
                    <a:lnB w="12700" cap="flat" cmpd="sng" algn="ctr">
                      <a:solidFill>
                        <a:srgbClr val="604378"/>
                      </a:solidFill>
                      <a:prstDash val="solid"/>
                      <a:round/>
                      <a:headEnd type="none" w="med" len="med"/>
                      <a:tailEnd type="none" w="med" len="med"/>
                    </a:lnB>
                    <a:noFill/>
                  </a:tcPr>
                </a:tc>
                <a:tc>
                  <a:txBody>
                    <a:bodyPr/>
                    <a:lstStyle/>
                    <a:p>
                      <a:pPr fontAlgn="base" latinLnBrk="0"/>
                      <a:r>
                        <a:rPr lang="en-US" sz="1200" dirty="0">
                          <a:effectLst/>
                        </a:rPr>
                        <a:t>Animal a = new Dog(); </a:t>
                      </a:r>
                      <a:r>
                        <a:rPr lang="en-US" sz="1200" dirty="0" err="1">
                          <a:effectLst/>
                        </a:rPr>
                        <a:t>a.makeSound</a:t>
                      </a:r>
                      <a:r>
                        <a:rPr lang="en-US" sz="1200" dirty="0">
                          <a:effectLst/>
                        </a:rPr>
                        <a:t>(); // Woof</a:t>
                      </a:r>
                    </a:p>
                  </a:txBody>
                  <a:tcPr marL="41245" marR="41245" marT="30934" marB="30934" anchor="ctr">
                    <a:lnL w="12700" cap="flat" cmpd="sng" algn="ctr">
                      <a:solidFill>
                        <a:srgbClr val="604378"/>
                      </a:solidFill>
                      <a:prstDash val="solid"/>
                      <a:round/>
                      <a:headEnd type="none" w="med" len="med"/>
                      <a:tailEnd type="none" w="med" len="med"/>
                    </a:lnL>
                    <a:lnR w="12700" cap="flat" cmpd="sng" algn="ctr">
                      <a:solidFill>
                        <a:srgbClr val="604378"/>
                      </a:solidFill>
                      <a:prstDash val="solid"/>
                      <a:round/>
                      <a:headEnd type="none" w="med" len="med"/>
                      <a:tailEnd type="none" w="med" len="med"/>
                    </a:lnR>
                    <a:lnT w="12700" cap="flat" cmpd="sng" algn="ctr">
                      <a:solidFill>
                        <a:srgbClr val="604378"/>
                      </a:solidFill>
                      <a:prstDash val="solid"/>
                      <a:round/>
                      <a:headEnd type="none" w="med" len="med"/>
                      <a:tailEnd type="none" w="med" len="med"/>
                    </a:lnT>
                    <a:lnB w="12700" cap="flat" cmpd="sng" algn="ctr">
                      <a:solidFill>
                        <a:srgbClr val="604378"/>
                      </a:solidFill>
                      <a:prstDash val="solid"/>
                      <a:round/>
                      <a:headEnd type="none" w="med" len="med"/>
                      <a:tailEnd type="none" w="med" len="med"/>
                    </a:lnB>
                    <a:noFill/>
                  </a:tcPr>
                </a:tc>
                <a:extLst>
                  <a:ext uri="{0D108BD9-81ED-4DB2-BD59-A6C34878D82A}">
                    <a16:rowId xmlns:a16="http://schemas.microsoft.com/office/drawing/2014/main" val="1277301060"/>
                  </a:ext>
                </a:extLst>
              </a:tr>
            </a:tbl>
          </a:graphicData>
        </a:graphic>
      </p:graphicFrame>
    </p:spTree>
    <p:extLst>
      <p:ext uri="{BB962C8B-B14F-4D97-AF65-F5344CB8AC3E}">
        <p14:creationId xmlns:p14="http://schemas.microsoft.com/office/powerpoint/2010/main" val="34423963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1441</Words>
  <Application>Microsoft Office PowerPoint</Application>
  <PresentationFormat>Widescreen</PresentationFormat>
  <Paragraphs>172</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Courier New</vt:lpstr>
      <vt:lpstr>Google Sans</vt:lpstr>
      <vt:lpstr>Office Theme</vt:lpstr>
      <vt:lpstr>OBJECT ORIENTED PROGRAMING USING JAVA</vt:lpstr>
      <vt:lpstr>Introduction to Java </vt:lpstr>
      <vt:lpstr>Key characteristics of Java include:</vt:lpstr>
      <vt:lpstr>Key characteristics of Java Cont. :</vt:lpstr>
      <vt:lpstr>Common applications of Java include:</vt:lpstr>
      <vt:lpstr>Object Oriented Programing Concepts</vt:lpstr>
      <vt:lpstr>   Class :  </vt:lpstr>
      <vt:lpstr>Key aspects of a Java class: </vt:lpstr>
      <vt:lpstr>OBJECT</vt:lpstr>
      <vt:lpstr>PowerPoint Presentation</vt:lpstr>
      <vt:lpstr>Abstraction </vt:lpstr>
      <vt:lpstr>Encapsulation </vt:lpstr>
      <vt:lpstr>ABSTRACTION VS ENCAPSULATION</vt:lpstr>
      <vt:lpstr>ACCESS SPECIFIERS</vt:lpstr>
      <vt:lpstr>ACCESS SPECIFIERS CONTD.</vt:lpstr>
      <vt:lpstr>INHERITENCE</vt:lpstr>
      <vt:lpstr>POLYMORPHISM :   Polymorphism means "many forms." It allows one interface to be used for different data types or classes. </vt:lpstr>
      <vt:lpstr>Polymorphism contd.</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RAMA MAHAVIDYALAYA</dc:creator>
  <cp:lastModifiedBy>RAMA MAHAVIDYALAYA</cp:lastModifiedBy>
  <cp:revision>1</cp:revision>
  <dcterms:created xsi:type="dcterms:W3CDTF">2025-07-30T06:32:10Z</dcterms:created>
  <dcterms:modified xsi:type="dcterms:W3CDTF">2025-07-30T06:32:29Z</dcterms:modified>
</cp:coreProperties>
</file>